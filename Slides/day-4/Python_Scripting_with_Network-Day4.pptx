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66" r:id="rId4"/>
    <p:sldId id="267" r:id="rId5"/>
    <p:sldId id="269" r:id="rId6"/>
    <p:sldId id="271" r:id="rId7"/>
    <p:sldId id="292" r:id="rId8"/>
    <p:sldId id="273" r:id="rId9"/>
    <p:sldId id="274" r:id="rId10"/>
    <p:sldId id="275" r:id="rId11"/>
    <p:sldId id="284" r:id="rId12"/>
    <p:sldId id="285" r:id="rId13"/>
    <p:sldId id="286" r:id="rId14"/>
    <p:sldId id="287" r:id="rId15"/>
    <p:sldId id="288" r:id="rId16"/>
    <p:sldId id="289" r:id="rId17"/>
    <p:sldId id="290" r:id="rId18"/>
    <p:sldId id="291" r:id="rId19"/>
    <p:sldId id="28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4</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fontScale="92500" lnSpcReduction="10000"/>
          </a:bodyPr>
          <a:lstStyle/>
          <a:p>
            <a:r>
              <a:rPr lang="en-US" sz="2200" dirty="0">
                <a:ea typeface="Calibri" panose="020F0502020204030204"/>
                <a:cs typeface="Calibri" panose="020F0502020204030204"/>
              </a:rPr>
              <a:t>Python Lists</a:t>
            </a:r>
          </a:p>
          <a:p>
            <a:r>
              <a:rPr lang="en-US" sz="2200" dirty="0">
                <a:ea typeface="Calibri" panose="020F0502020204030204"/>
                <a:cs typeface="Calibri" panose="020F0502020204030204"/>
              </a:rPr>
              <a:t>Python Tuples </a:t>
            </a:r>
          </a:p>
          <a:p>
            <a:r>
              <a:rPr lang="en-US" sz="2200" dirty="0">
                <a:ea typeface="Calibri" panose="020F0502020204030204"/>
                <a:cs typeface="Calibri" panose="020F0502020204030204"/>
              </a:rPr>
              <a:t>Python Sets</a:t>
            </a:r>
          </a:p>
          <a:p>
            <a:r>
              <a:rPr lang="en-US" sz="2200" dirty="0">
                <a:ea typeface="Calibri" panose="020F0502020204030204"/>
                <a:cs typeface="Calibri" panose="020F0502020204030204"/>
              </a:rPr>
              <a:t>Python Dictonaries</a:t>
            </a:r>
          </a:p>
          <a:p>
            <a:r>
              <a:rPr lang="en-US" sz="2200" dirty="0">
                <a:ea typeface="Calibri" panose="020F0502020204030204"/>
                <a:cs typeface="Calibri" panose="020F0502020204030204"/>
              </a:rPr>
              <a:t>Conditional statements</a:t>
            </a:r>
          </a:p>
          <a:p>
            <a:r>
              <a:rPr lang="en-US" sz="2200" dirty="0">
                <a:ea typeface="Calibri" panose="020F0502020204030204"/>
                <a:cs typeface="Calibri" panose="020F0502020204030204"/>
              </a:rPr>
              <a:t>Python Files</a:t>
            </a:r>
          </a:p>
          <a:p>
            <a:r>
              <a:rPr lang="en-US" sz="2200" dirty="0">
                <a:ea typeface="Calibri" panose="020F0502020204030204"/>
                <a:cs typeface="Calibri" panose="020F0502020204030204"/>
              </a:rPr>
              <a:t>Python Exception Handling</a:t>
            </a:r>
          </a:p>
          <a:p>
            <a:r>
              <a:rPr lang="en-US" sz="2200" dirty="0">
                <a:ea typeface="Calibri" panose="020F0502020204030204"/>
                <a:cs typeface="Calibri" panose="020F0502020204030204"/>
              </a:rPr>
              <a:t>Python Classes</a:t>
            </a:r>
          </a:p>
          <a:p>
            <a:r>
              <a:rPr lang="en-US" sz="2200" dirty="0">
                <a:ea typeface="Calibri" panose="020F0502020204030204"/>
                <a:cs typeface="Calibri" panose="020F0502020204030204"/>
              </a:rPr>
              <a:t>Python Functions </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dirty="0"/>
              <a:t>Python Lists</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9417681" cy="3447832"/>
          </a:xfrm>
        </p:spPr>
        <p:txBody>
          <a:bodyPr vert="horz" lIns="91440" tIns="45720" rIns="91440" bIns="45720" rtlCol="0" anchor="t">
            <a:normAutofit/>
          </a:bodyPr>
          <a:lstStyle/>
          <a:p>
            <a:r>
              <a:rPr lang="en-US" sz="2000" dirty="0"/>
              <a:t>A python  Lists is a basic &amp; flexible way to store a collection of items.</a:t>
            </a:r>
          </a:p>
          <a:p>
            <a:r>
              <a:rPr lang="en-US" sz="2000" dirty="0"/>
              <a:t>Python lists maintains order</a:t>
            </a:r>
          </a:p>
          <a:p>
            <a:r>
              <a:rPr lang="en-US" sz="2000" dirty="0"/>
              <a:t>Holds mixed data </a:t>
            </a:r>
          </a:p>
          <a:p>
            <a:r>
              <a:rPr lang="en-US" sz="2000" dirty="0"/>
              <a:t>Is mutable </a:t>
            </a:r>
          </a:p>
          <a:p>
            <a:r>
              <a:rPr lang="en-US" sz="2000" dirty="0"/>
              <a:t>Lists use zero based indexing.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Tuples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A tuple is a way to store a collection of items in a specific order</a:t>
            </a:r>
          </a:p>
          <a:p>
            <a:endParaRPr lang="en-US" sz="1400" dirty="0">
              <a:ea typeface="Calibri"/>
              <a:cs typeface="Calibri"/>
            </a:endParaRPr>
          </a:p>
          <a:p>
            <a:r>
              <a:rPr lang="en-US" sz="1400" dirty="0">
                <a:ea typeface="Calibri"/>
                <a:cs typeface="Calibri"/>
              </a:rPr>
              <a:t>Tuples can hold collection of items which are ordered &amp; can be different types</a:t>
            </a:r>
          </a:p>
          <a:p>
            <a:r>
              <a:rPr lang="en-US" sz="1400" dirty="0">
                <a:ea typeface="Calibri"/>
                <a:cs typeface="Calibri"/>
              </a:rPr>
              <a:t>Tuples are immutable in nature</a:t>
            </a:r>
          </a:p>
          <a:p>
            <a:r>
              <a:rPr lang="en-US" sz="1400" dirty="0">
                <a:ea typeface="Calibri"/>
                <a:cs typeface="Calibri"/>
              </a:rPr>
              <a:t>Tuples are often used for pairs &amp; small sets of related data</a:t>
            </a:r>
          </a:p>
        </p:txBody>
      </p:sp>
    </p:spTree>
    <p:extLst>
      <p:ext uri="{BB962C8B-B14F-4D97-AF65-F5344CB8AC3E}">
        <p14:creationId xmlns:p14="http://schemas.microsoft.com/office/powerpoint/2010/main" val="2562354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Sets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3" y="1421985"/>
            <a:ext cx="9417895"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A735C817-6BD6-DA6A-4712-0E757CE21454}"/>
              </a:ext>
            </a:extLst>
          </p:cNvPr>
          <p:cNvSpPr txBox="1"/>
          <p:nvPr/>
        </p:nvSpPr>
        <p:spPr>
          <a:xfrm>
            <a:off x="1050770" y="1563329"/>
            <a:ext cx="927310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Sets are a type of data structure in python which can store collections of unique items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can use the in operator to check if an element in set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support ops like union, intersection, difference for comparing or combining of sets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can manage IP address, VLAN Ids, network devices. </a:t>
            </a:r>
          </a:p>
        </p:txBody>
      </p:sp>
    </p:spTree>
    <p:extLst>
      <p:ext uri="{BB962C8B-B14F-4D97-AF65-F5344CB8AC3E}">
        <p14:creationId xmlns:p14="http://schemas.microsoft.com/office/powerpoint/2010/main" val="60641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dirty="0"/>
              <a:t>Dictionaries in Python</a:t>
            </a:r>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dirty="0">
              <a:highlight>
                <a:srgbClr val="FFFFFF"/>
              </a:highlight>
              <a:ea typeface="Calibri"/>
              <a:cs typeface="Calibri"/>
            </a:endParaRPr>
          </a:p>
          <a:p>
            <a:endParaRPr lang="en-US" sz="2000" dirty="0">
              <a:highlight>
                <a:srgbClr val="FFFFFF"/>
              </a:highlight>
              <a:latin typeface="Segoe UI"/>
              <a:ea typeface="Calibri"/>
              <a:cs typeface="Segoe UI"/>
            </a:endParaRPr>
          </a:p>
          <a:p>
            <a:r>
              <a:rPr lang="en-US" sz="1700" dirty="0">
                <a:highlight>
                  <a:srgbClr val="FFFFFF"/>
                </a:highlight>
              </a:rPr>
              <a:t>Dictionaries in Python are like special containers that store data as key-value pairs. They keep the order of items and are very useful for many programming tasks. </a:t>
            </a:r>
          </a:p>
          <a:p>
            <a:r>
              <a:rPr lang="en-US" sz="1700" dirty="0">
                <a:highlight>
                  <a:srgbClr val="FFFFFF"/>
                </a:highlight>
              </a:rPr>
              <a:t>You can create dictionaries using curly braces {} and access values by their keys</a:t>
            </a:r>
            <a:endParaRPr lang="en-US" sz="1700" dirty="0">
              <a:ea typeface="Calibri"/>
              <a:cs typeface="Calibri"/>
            </a:endParaRPr>
          </a:p>
        </p:txBody>
      </p:sp>
      <p:pic>
        <p:nvPicPr>
          <p:cNvPr id="6" name="Picture 5">
            <a:extLst>
              <a:ext uri="{FF2B5EF4-FFF2-40B4-BE49-F238E27FC236}">
                <a16:creationId xmlns:a16="http://schemas.microsoft.com/office/drawing/2014/main" id="{A001ABF0-07C7-FC22-DC34-EFA191A4D612}"/>
              </a:ext>
            </a:extLst>
          </p:cNvPr>
          <p:cNvPicPr>
            <a:picLocks noChangeAspect="1"/>
          </p:cNvPicPr>
          <p:nvPr/>
        </p:nvPicPr>
        <p:blipFill>
          <a:blip r:embed="rId3"/>
          <a:stretch>
            <a:fillRect/>
          </a:stretch>
        </p:blipFill>
        <p:spPr>
          <a:xfrm>
            <a:off x="5324559" y="3943321"/>
            <a:ext cx="6693989" cy="951826"/>
          </a:xfrm>
          <a:prstGeom prst="rect">
            <a:avLst/>
          </a:prstGeom>
        </p:spPr>
      </p:pic>
    </p:spTree>
    <p:extLst>
      <p:ext uri="{BB962C8B-B14F-4D97-AF65-F5344CB8AC3E}">
        <p14:creationId xmlns:p14="http://schemas.microsoft.com/office/powerpoint/2010/main" val="104916466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Nested Dictionaries in Python</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800" dirty="0"/>
              <a:t>Nested dictionaries in Python help you structure and organize data efficiently, making it easier to model complex relationships. </a:t>
            </a:r>
          </a:p>
          <a:p>
            <a:endParaRPr lang="en-US" sz="1800" dirty="0"/>
          </a:p>
          <a:p>
            <a:r>
              <a:rPr lang="en-US" sz="1800" dirty="0"/>
              <a:t>Python dictionaries are versatile and essential for organizing data. </a:t>
            </a:r>
          </a:p>
          <a:p>
            <a:endParaRPr lang="en-US" sz="1800" dirty="0"/>
          </a:p>
          <a:p>
            <a:r>
              <a:rPr lang="en-US" sz="1800" dirty="0"/>
              <a:t>Their dynamic features and support for nested structures make them powerful tools in Python programming and network engineering</a:t>
            </a:r>
          </a:p>
        </p:txBody>
      </p:sp>
      <p:pic>
        <p:nvPicPr>
          <p:cNvPr id="5" name="Picture 4">
            <a:extLst>
              <a:ext uri="{FF2B5EF4-FFF2-40B4-BE49-F238E27FC236}">
                <a16:creationId xmlns:a16="http://schemas.microsoft.com/office/drawing/2014/main" id="{DE719A45-E5CE-D0E1-A28E-1D6748FF6FA6}"/>
              </a:ext>
            </a:extLst>
          </p:cNvPr>
          <p:cNvPicPr>
            <a:picLocks noChangeAspect="1"/>
          </p:cNvPicPr>
          <p:nvPr/>
        </p:nvPicPr>
        <p:blipFill>
          <a:blip r:embed="rId2"/>
          <a:stretch>
            <a:fillRect/>
          </a:stretch>
        </p:blipFill>
        <p:spPr>
          <a:xfrm>
            <a:off x="7846141" y="4436038"/>
            <a:ext cx="3052916" cy="2056837"/>
          </a:xfrm>
          <a:prstGeom prst="rect">
            <a:avLst/>
          </a:prstGeom>
        </p:spPr>
      </p:pic>
    </p:spTree>
    <p:extLst>
      <p:ext uri="{BB962C8B-B14F-4D97-AF65-F5344CB8AC3E}">
        <p14:creationId xmlns:p14="http://schemas.microsoft.com/office/powerpoint/2010/main" val="2428767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38E9-6D18-7939-9D3E-0AF977AC0083}"/>
              </a:ext>
            </a:extLst>
          </p:cNvPr>
          <p:cNvSpPr>
            <a:spLocks noGrp="1"/>
          </p:cNvSpPr>
          <p:nvPr>
            <p:ph type="title"/>
          </p:nvPr>
        </p:nvSpPr>
        <p:spPr/>
        <p:txBody>
          <a:bodyPr/>
          <a:lstStyle/>
          <a:p>
            <a:r>
              <a:rPr lang="en-US" dirty="0"/>
              <a:t>Python Files</a:t>
            </a:r>
          </a:p>
        </p:txBody>
      </p:sp>
      <p:sp>
        <p:nvSpPr>
          <p:cNvPr id="3" name="Content Placeholder 2">
            <a:extLst>
              <a:ext uri="{FF2B5EF4-FFF2-40B4-BE49-F238E27FC236}">
                <a16:creationId xmlns:a16="http://schemas.microsoft.com/office/drawing/2014/main" id="{BB46637C-0FAA-59B3-15AC-DD230B713F8F}"/>
              </a:ext>
            </a:extLst>
          </p:cNvPr>
          <p:cNvSpPr>
            <a:spLocks noGrp="1"/>
          </p:cNvSpPr>
          <p:nvPr>
            <p:ph idx="1"/>
          </p:nvPr>
        </p:nvSpPr>
        <p:spPr/>
        <p:txBody>
          <a:bodyPr/>
          <a:lstStyle/>
          <a:p>
            <a:r>
              <a:rPr lang="en-US" dirty="0"/>
              <a:t>File Reading in Python </a:t>
            </a:r>
          </a:p>
          <a:p>
            <a:r>
              <a:rPr lang="en-US" sz="1600" dirty="0"/>
              <a:t>Open the file with open() function</a:t>
            </a:r>
          </a:p>
          <a:p>
            <a:r>
              <a:rPr lang="en-US" sz="1600" dirty="0"/>
              <a:t>Reading the file</a:t>
            </a:r>
          </a:p>
          <a:p>
            <a:r>
              <a:rPr lang="en-US" sz="1600" dirty="0"/>
              <a:t>Closing the file </a:t>
            </a:r>
          </a:p>
          <a:p>
            <a:endParaRPr lang="en-US" sz="1600" dirty="0"/>
          </a:p>
          <a:p>
            <a:r>
              <a:rPr lang="en-US" sz="2400" dirty="0"/>
              <a:t>File writing in Python </a:t>
            </a:r>
          </a:p>
          <a:p>
            <a:endParaRPr lang="en-US" sz="1600" dirty="0"/>
          </a:p>
          <a:p>
            <a:r>
              <a:rPr lang="en-US" sz="1600" dirty="0"/>
              <a:t>Opening the file</a:t>
            </a:r>
          </a:p>
          <a:p>
            <a:r>
              <a:rPr lang="en-US" sz="1600" dirty="0"/>
              <a:t>Writing the file</a:t>
            </a:r>
          </a:p>
          <a:p>
            <a:r>
              <a:rPr lang="en-US" sz="1600" dirty="0"/>
              <a:t>Closing the file</a:t>
            </a:r>
          </a:p>
        </p:txBody>
      </p:sp>
    </p:spTree>
    <p:extLst>
      <p:ext uri="{BB962C8B-B14F-4D97-AF65-F5344CB8AC3E}">
        <p14:creationId xmlns:p14="http://schemas.microsoft.com/office/powerpoint/2010/main" val="278570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A2C4-A641-D660-5EAB-1A286532F1D4}"/>
              </a:ext>
            </a:extLst>
          </p:cNvPr>
          <p:cNvSpPr>
            <a:spLocks noGrp="1"/>
          </p:cNvSpPr>
          <p:nvPr>
            <p:ph type="title"/>
          </p:nvPr>
        </p:nvSpPr>
        <p:spPr/>
        <p:txBody>
          <a:bodyPr/>
          <a:lstStyle/>
          <a:p>
            <a:r>
              <a:rPr lang="en-US" dirty="0"/>
              <a:t>Python Exception Handling </a:t>
            </a:r>
          </a:p>
        </p:txBody>
      </p:sp>
      <p:sp>
        <p:nvSpPr>
          <p:cNvPr id="3" name="Content Placeholder 2">
            <a:extLst>
              <a:ext uri="{FF2B5EF4-FFF2-40B4-BE49-F238E27FC236}">
                <a16:creationId xmlns:a16="http://schemas.microsoft.com/office/drawing/2014/main" id="{2B61C3E3-276D-08AA-214F-97CF04512014}"/>
              </a:ext>
            </a:extLst>
          </p:cNvPr>
          <p:cNvSpPr>
            <a:spLocks noGrp="1"/>
          </p:cNvSpPr>
          <p:nvPr>
            <p:ph idx="1"/>
          </p:nvPr>
        </p:nvSpPr>
        <p:spPr/>
        <p:txBody>
          <a:bodyPr>
            <a:normAutofit/>
          </a:bodyPr>
          <a:lstStyle/>
          <a:p>
            <a:r>
              <a:rPr lang="en-US" sz="1600" dirty="0"/>
              <a:t>Exceptions are events when something goes wrong in the code. Such as syntax error, division by zero, missing file etc. </a:t>
            </a:r>
          </a:p>
          <a:p>
            <a:endParaRPr lang="en-US" sz="1600" dirty="0"/>
          </a:p>
          <a:p>
            <a:r>
              <a:rPr lang="en-US" sz="1600" dirty="0"/>
              <a:t>Exceptions are objects which represent the abnormal conditions that interrupts the normal flow of program. </a:t>
            </a:r>
          </a:p>
          <a:p>
            <a:endParaRPr lang="en-US" sz="1600" dirty="0"/>
          </a:p>
          <a:p>
            <a:r>
              <a:rPr lang="en-US" sz="1600" dirty="0"/>
              <a:t>Exceptions are handled through try() &amp; catch() block. </a:t>
            </a:r>
          </a:p>
        </p:txBody>
      </p:sp>
    </p:spTree>
    <p:extLst>
      <p:ext uri="{BB962C8B-B14F-4D97-AF65-F5344CB8AC3E}">
        <p14:creationId xmlns:p14="http://schemas.microsoft.com/office/powerpoint/2010/main" val="3659310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93E8-0D09-1FB6-5F16-B928E759790E}"/>
              </a:ext>
            </a:extLst>
          </p:cNvPr>
          <p:cNvSpPr>
            <a:spLocks noGrp="1"/>
          </p:cNvSpPr>
          <p:nvPr>
            <p:ph type="title"/>
          </p:nvPr>
        </p:nvSpPr>
        <p:spPr/>
        <p:txBody>
          <a:bodyPr/>
          <a:lstStyle/>
          <a:p>
            <a:r>
              <a:rPr lang="en-US" dirty="0"/>
              <a:t>Python Classes </a:t>
            </a:r>
          </a:p>
        </p:txBody>
      </p:sp>
      <p:sp>
        <p:nvSpPr>
          <p:cNvPr id="3" name="Content Placeholder 2">
            <a:extLst>
              <a:ext uri="{FF2B5EF4-FFF2-40B4-BE49-F238E27FC236}">
                <a16:creationId xmlns:a16="http://schemas.microsoft.com/office/drawing/2014/main" id="{A435ACCD-156E-FEA8-98DA-9FA576872E21}"/>
              </a:ext>
            </a:extLst>
          </p:cNvPr>
          <p:cNvSpPr>
            <a:spLocks noGrp="1"/>
          </p:cNvSpPr>
          <p:nvPr>
            <p:ph idx="1"/>
          </p:nvPr>
        </p:nvSpPr>
        <p:spPr/>
        <p:txBody>
          <a:bodyPr>
            <a:normAutofit/>
          </a:bodyPr>
          <a:lstStyle/>
          <a:p>
            <a:r>
              <a:rPr lang="en-US" sz="1600" dirty="0"/>
              <a:t>In Python, everything is an object, everything we create in python associated with functions/methods or attributes. </a:t>
            </a:r>
          </a:p>
          <a:p>
            <a:endParaRPr lang="en-US" sz="1600" dirty="0"/>
          </a:p>
          <a:p>
            <a:r>
              <a:rPr lang="en-US" sz="1600" dirty="0"/>
              <a:t>A class serves as a blueprint for creating objects. </a:t>
            </a:r>
          </a:p>
          <a:p>
            <a:endParaRPr lang="en-US" sz="1600" dirty="0"/>
          </a:p>
          <a:p>
            <a:r>
              <a:rPr lang="en-US" sz="1600" dirty="0"/>
              <a:t>While a class is blueprint, an instance of object is built from the blueprint, containing data. </a:t>
            </a:r>
          </a:p>
          <a:p>
            <a:endParaRPr lang="en-US" sz="1600" dirty="0"/>
          </a:p>
          <a:p>
            <a:r>
              <a:rPr lang="en-US" sz="1600" dirty="0"/>
              <a:t>Instance methods are functions defined inside the class, callable only from an instance of that class. </a:t>
            </a:r>
          </a:p>
        </p:txBody>
      </p:sp>
    </p:spTree>
    <p:extLst>
      <p:ext uri="{BB962C8B-B14F-4D97-AF65-F5344CB8AC3E}">
        <p14:creationId xmlns:p14="http://schemas.microsoft.com/office/powerpoint/2010/main" val="385328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B6AC-3D41-2763-8100-24359023C9AA}"/>
              </a:ext>
            </a:extLst>
          </p:cNvPr>
          <p:cNvSpPr>
            <a:spLocks noGrp="1"/>
          </p:cNvSpPr>
          <p:nvPr>
            <p:ph type="title"/>
          </p:nvPr>
        </p:nvSpPr>
        <p:spPr/>
        <p:txBody>
          <a:bodyPr/>
          <a:lstStyle/>
          <a:p>
            <a:r>
              <a:rPr lang="en-US" dirty="0"/>
              <a:t>Python Functions for Network Automation</a:t>
            </a:r>
          </a:p>
        </p:txBody>
      </p:sp>
      <p:sp>
        <p:nvSpPr>
          <p:cNvPr id="3" name="Content Placeholder 2">
            <a:extLst>
              <a:ext uri="{FF2B5EF4-FFF2-40B4-BE49-F238E27FC236}">
                <a16:creationId xmlns:a16="http://schemas.microsoft.com/office/drawing/2014/main" id="{B60A9897-1C80-28F5-585B-80A4BED9D677}"/>
              </a:ext>
            </a:extLst>
          </p:cNvPr>
          <p:cNvSpPr>
            <a:spLocks noGrp="1"/>
          </p:cNvSpPr>
          <p:nvPr>
            <p:ph idx="1"/>
          </p:nvPr>
        </p:nvSpPr>
        <p:spPr/>
        <p:txBody>
          <a:bodyPr/>
          <a:lstStyle/>
          <a:p>
            <a:r>
              <a:rPr lang="en-US" sz="1600" dirty="0"/>
              <a:t>In Python, the concept of functions plays a crucial role, allowing developers to encapsulate and reuse code efficiently. Functions provide a way to create modular and maintainable code, as specific tasks can be performed by calling a function multiple times, eliminating the need for redundant code.</a:t>
            </a:r>
          </a:p>
          <a:p>
            <a:endParaRPr lang="en-US" sz="1600" dirty="0"/>
          </a:p>
          <a:p>
            <a:r>
              <a:rPr lang="en-US" sz="1600" dirty="0"/>
              <a:t>Python’s functions are blocks of organized code designed to be reusable for specific tasks. They allow the efficient reuse of code segments and the creation of customized functions is straightforward. The syntax for defining a function in Python involves using the def keyword.</a:t>
            </a:r>
          </a:p>
          <a:p>
            <a:endParaRPr lang="en-US" sz="1600" dirty="0"/>
          </a:p>
          <a:p>
            <a:r>
              <a:rPr lang="en-US" sz="1600" dirty="0"/>
              <a:t>There are two types of functions in Python:</a:t>
            </a:r>
          </a:p>
          <a:p>
            <a:r>
              <a:rPr lang="en-US" sz="1600" dirty="0"/>
              <a:t>Built-in Functions</a:t>
            </a:r>
          </a:p>
          <a:p>
            <a:r>
              <a:rPr lang="en-US" sz="1600" dirty="0"/>
              <a:t>User-defined Functions</a:t>
            </a:r>
          </a:p>
          <a:p>
            <a:endParaRPr lang="en-US" sz="1600" dirty="0"/>
          </a:p>
        </p:txBody>
      </p:sp>
    </p:spTree>
    <p:extLst>
      <p:ext uri="{BB962C8B-B14F-4D97-AF65-F5344CB8AC3E}">
        <p14:creationId xmlns:p14="http://schemas.microsoft.com/office/powerpoint/2010/main" val="45555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59030-320B-2096-9BEF-84E38374911D}"/>
              </a:ext>
            </a:extLst>
          </p:cNvPr>
          <p:cNvSpPr>
            <a:spLocks noGrp="1"/>
          </p:cNvSpPr>
          <p:nvPr>
            <p:ph type="title"/>
          </p:nvPr>
        </p:nvSpPr>
        <p:spPr/>
        <p:txBody>
          <a:bodyPr/>
          <a:lstStyle/>
          <a:p>
            <a:r>
              <a:rPr lang="en-US" dirty="0"/>
              <a:t>Python Functions Arguments</a:t>
            </a:r>
          </a:p>
        </p:txBody>
      </p:sp>
      <p:pic>
        <p:nvPicPr>
          <p:cNvPr id="5" name="Content Placeholder 4">
            <a:extLst>
              <a:ext uri="{FF2B5EF4-FFF2-40B4-BE49-F238E27FC236}">
                <a16:creationId xmlns:a16="http://schemas.microsoft.com/office/drawing/2014/main" id="{E7B79154-1B30-3D75-5F10-0CD97263AC56}"/>
              </a:ext>
            </a:extLst>
          </p:cNvPr>
          <p:cNvPicPr>
            <a:picLocks noGrp="1" noChangeAspect="1"/>
          </p:cNvPicPr>
          <p:nvPr>
            <p:ph idx="1"/>
          </p:nvPr>
        </p:nvPicPr>
        <p:blipFill>
          <a:blip r:embed="rId2"/>
          <a:stretch>
            <a:fillRect/>
          </a:stretch>
        </p:blipFill>
        <p:spPr>
          <a:xfrm>
            <a:off x="838200" y="2019300"/>
            <a:ext cx="6172200" cy="1409700"/>
          </a:xfrm>
          <a:prstGeom prst="rect">
            <a:avLst/>
          </a:prstGeom>
        </p:spPr>
      </p:pic>
      <p:sp>
        <p:nvSpPr>
          <p:cNvPr id="6" name="TextBox 5">
            <a:extLst>
              <a:ext uri="{FF2B5EF4-FFF2-40B4-BE49-F238E27FC236}">
                <a16:creationId xmlns:a16="http://schemas.microsoft.com/office/drawing/2014/main" id="{61DFC9C8-21DC-8067-1269-45C9097D86F9}"/>
              </a:ext>
            </a:extLst>
          </p:cNvPr>
          <p:cNvSpPr txBox="1"/>
          <p:nvPr/>
        </p:nvSpPr>
        <p:spPr>
          <a:xfrm>
            <a:off x="7329948" y="1526384"/>
            <a:ext cx="4023852" cy="4678204"/>
          </a:xfrm>
          <a:prstGeom prst="rect">
            <a:avLst/>
          </a:prstGeom>
          <a:noFill/>
        </p:spPr>
        <p:txBody>
          <a:bodyPr wrap="square" rtlCol="0">
            <a:spAutoFit/>
          </a:bodyPr>
          <a:lstStyle/>
          <a:p>
            <a:pPr marL="285750" indent="-285750">
              <a:buFont typeface="Arial" panose="020B0604020202020204" pitchFamily="34" charset="0"/>
              <a:buChar char="•"/>
            </a:pPr>
            <a:r>
              <a:rPr lang="en-US" sz="1600" dirty="0"/>
              <a:t>In functions, flexibility is key, and Python supports the concept of handling an arbitrary number of arguments and keyword arguments through </a:t>
            </a:r>
            <a:r>
              <a:rPr lang="en-US" sz="1600" b="1" dirty="0"/>
              <a:t>*</a:t>
            </a:r>
            <a:r>
              <a:rPr lang="en-US" sz="1600" b="1" dirty="0" err="1"/>
              <a:t>args</a:t>
            </a:r>
            <a:r>
              <a:rPr lang="en-US" sz="1600" b="1" dirty="0"/>
              <a:t> </a:t>
            </a:r>
            <a:r>
              <a:rPr lang="en-US" sz="1600" dirty="0"/>
              <a:t>and </a:t>
            </a:r>
            <a:r>
              <a:rPr lang="en-US" sz="1600" b="1" dirty="0"/>
              <a:t>**</a:t>
            </a:r>
            <a:r>
              <a:rPr lang="en-US" sz="1600" b="1" dirty="0" err="1"/>
              <a:t>kwargs</a:t>
            </a:r>
            <a:r>
              <a:rPr lang="en-US" sz="1600" b="1"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With </a:t>
            </a:r>
            <a:r>
              <a:rPr lang="en-US" sz="1600" b="1" dirty="0"/>
              <a:t>*</a:t>
            </a:r>
            <a:r>
              <a:rPr lang="en-US" sz="1600" b="1" dirty="0" err="1"/>
              <a:t>args</a:t>
            </a:r>
            <a:r>
              <a:rPr lang="en-US" sz="1600" dirty="0"/>
              <a:t>, the function </a:t>
            </a:r>
            <a:r>
              <a:rPr lang="en-US" sz="1600" b="1" dirty="0" err="1"/>
              <a:t>network_status</a:t>
            </a:r>
            <a:r>
              <a:rPr lang="en-US" sz="1600" b="1" dirty="0"/>
              <a:t> </a:t>
            </a:r>
            <a:r>
              <a:rPr lang="en-US" sz="1600" dirty="0"/>
              <a:t>can accept an arbitrary number of devices, making it suitable for scenarios where the number of devices in the network is not fixed.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dirty="0"/>
              <a:t>Using </a:t>
            </a:r>
            <a:r>
              <a:rPr lang="en-US" b="1" dirty="0"/>
              <a:t>**</a:t>
            </a:r>
            <a:r>
              <a:rPr lang="en-US" b="1" dirty="0" err="1"/>
              <a:t>kwargs</a:t>
            </a:r>
            <a:r>
              <a:rPr lang="en-US" dirty="0"/>
              <a:t>, the function </a:t>
            </a:r>
            <a:r>
              <a:rPr lang="en-US" b="1" dirty="0" err="1"/>
              <a:t>configure_device</a:t>
            </a:r>
            <a:r>
              <a:rPr lang="en-US" b="1" dirty="0"/>
              <a:t> </a:t>
            </a:r>
            <a:r>
              <a:rPr lang="en-US" dirty="0"/>
              <a:t>can handle an arbitrary number of keyword arguments, allowing for a more dynamic configuration approach.</a:t>
            </a:r>
            <a:endParaRPr lang="en-US" sz="1600" dirty="0"/>
          </a:p>
        </p:txBody>
      </p:sp>
      <p:pic>
        <p:nvPicPr>
          <p:cNvPr id="8" name="Picture 7">
            <a:extLst>
              <a:ext uri="{FF2B5EF4-FFF2-40B4-BE49-F238E27FC236}">
                <a16:creationId xmlns:a16="http://schemas.microsoft.com/office/drawing/2014/main" id="{CABB78CB-9AE6-E73A-1730-B30C92AEA014}"/>
              </a:ext>
            </a:extLst>
          </p:cNvPr>
          <p:cNvPicPr>
            <a:picLocks noChangeAspect="1"/>
          </p:cNvPicPr>
          <p:nvPr/>
        </p:nvPicPr>
        <p:blipFill>
          <a:blip r:embed="rId3"/>
          <a:stretch>
            <a:fillRect/>
          </a:stretch>
        </p:blipFill>
        <p:spPr>
          <a:xfrm>
            <a:off x="902110" y="4248917"/>
            <a:ext cx="6210300" cy="1457325"/>
          </a:xfrm>
          <a:prstGeom prst="rect">
            <a:avLst/>
          </a:prstGeom>
        </p:spPr>
      </p:pic>
    </p:spTree>
    <p:extLst>
      <p:ext uri="{BB962C8B-B14F-4D97-AF65-F5344CB8AC3E}">
        <p14:creationId xmlns:p14="http://schemas.microsoft.com/office/powerpoint/2010/main" val="3918784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Override1.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2826</TotalTime>
  <Words>1214</Words>
  <Application>Microsoft Office PowerPoint</Application>
  <PresentationFormat>Widescreen</PresentationFormat>
  <Paragraphs>132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Arial</vt:lpstr>
      <vt:lpstr>Calibri</vt:lpstr>
      <vt:lpstr>Calibri Light</vt:lpstr>
      <vt:lpstr>Segoe UI</vt:lpstr>
      <vt:lpstr>Wingdings</vt:lpstr>
      <vt:lpstr>Office 2013 - 2022 Theme</vt:lpstr>
      <vt:lpstr>Python Scripting with Network</vt:lpstr>
      <vt:lpstr>Agenda</vt:lpstr>
      <vt:lpstr>Python Lists</vt:lpstr>
      <vt:lpstr>Python Tuples</vt:lpstr>
      <vt:lpstr>Sets in Python</vt:lpstr>
      <vt:lpstr>Dictionaries in Python</vt:lpstr>
      <vt:lpstr>Nested Dictionaries in Python</vt:lpstr>
      <vt:lpstr>Conditional Statements in Python</vt:lpstr>
      <vt:lpstr>Truthy &amp; Falsy Values in Python</vt:lpstr>
      <vt:lpstr>Python Lists </vt:lpstr>
      <vt:lpstr>Tuples in Python</vt:lpstr>
      <vt:lpstr>Sets in Python</vt:lpstr>
      <vt:lpstr>Python Dictionaries for Network Engineers</vt:lpstr>
      <vt:lpstr>Python Files</vt:lpstr>
      <vt:lpstr>Python Exception Handling </vt:lpstr>
      <vt:lpstr>Python Classes </vt:lpstr>
      <vt:lpstr>Python Functions for Network Automation</vt:lpstr>
      <vt:lpstr>Python Functions Arguments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13</cp:revision>
  <dcterms:created xsi:type="dcterms:W3CDTF">2026-04-11T17:33:10Z</dcterms:created>
  <dcterms:modified xsi:type="dcterms:W3CDTF">2026-05-26T05:47:17Z</dcterms:modified>
</cp:coreProperties>
</file>