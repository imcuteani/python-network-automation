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3" r:id="rId2"/>
    <p:sldId id="257" r:id="rId3"/>
    <p:sldId id="266" r:id="rId4"/>
    <p:sldId id="267" r:id="rId5"/>
    <p:sldId id="293" r:id="rId6"/>
    <p:sldId id="294" r:id="rId7"/>
    <p:sldId id="271" r:id="rId8"/>
    <p:sldId id="292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822" y="78"/>
      </p:cViewPr>
      <p:guideLst/>
    </p:cSldViewPr>
  </p:slideViewPr>
  <p:outlineViewPr>
    <p:cViewPr>
      <p:scale>
        <a:sx n="33" d="100"/>
        <a:sy n="33" d="100"/>
      </p:scale>
      <p:origin x="0" y="-1656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r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70B7-BE47-7E35-0D27-0BAB2C56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19B7A-2A46-EAB6-DB28-580FA351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BC140-2EEB-8EEA-E87E-6A111266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83B80ED1-C27B-6D48-B5D8-A825BB88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9ED15-CDB1-785A-7695-72DF5347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US" sz="3700" dirty="0"/>
              <a:t>Python Scripting with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AC54-0FE9-0C64-0851-2225707E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Day 6</a:t>
            </a:r>
          </a:p>
        </p:txBody>
      </p:sp>
    </p:spTree>
    <p:extLst>
      <p:ext uri="{BB962C8B-B14F-4D97-AF65-F5344CB8AC3E}">
        <p14:creationId xmlns:p14="http://schemas.microsoft.com/office/powerpoint/2010/main" val="2006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B31E-A9BD-D8C3-F865-874E07BC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Agenda</a:t>
            </a:r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E3E24C0B-1BDE-A4F0-4482-865C265A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882D-3313-EA10-DF38-9C2AAE0C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49756"/>
            <a:ext cx="6251110" cy="344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API for Network Automation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Advanced Functions 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Multithreading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Regular Expressions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REST API 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JSON API parsing with Python</a:t>
            </a:r>
          </a:p>
          <a:p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87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346FE-4E09-C356-AB28-CB782DAC4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/>
              <a:t>Python for Network Automation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4D52-8C50-848B-EB7F-1CE477320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4102"/>
            <a:ext cx="4784795" cy="390858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000" dirty="0"/>
              <a:t>Python has become the industry standard for network automation because it can interact with devices through multiple "APIs"—ranging from modern REST APIs to traditional CLI-based automation libraries.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100" dirty="0"/>
              <a:t>While standard CLI scripting (using </a:t>
            </a:r>
            <a:r>
              <a:rPr lang="en-US" sz="2100" dirty="0" err="1"/>
              <a:t>Paramiko</a:t>
            </a:r>
            <a:r>
              <a:rPr lang="en-US" sz="2100" dirty="0"/>
              <a:t>) works, programmatic APIs like </a:t>
            </a:r>
            <a:r>
              <a:rPr lang="en-US" sz="2100" b="1" dirty="0"/>
              <a:t>REST or RESTCONF </a:t>
            </a:r>
            <a:r>
              <a:rPr lang="en-US" sz="2100" dirty="0"/>
              <a:t>are preferred because they return structured data (JSON/XML). This eliminates the need for complex text parsing with regular expressions and makes scripts more reliable across different software versions</a:t>
            </a:r>
            <a:br>
              <a:rPr lang="en-US" sz="2100" dirty="0"/>
            </a:br>
            <a:endParaRPr lang="en-US" sz="2100" dirty="0"/>
          </a:p>
          <a:p>
            <a:pPr>
              <a:buFont typeface="Wingdings" panose="020B0604020202020204" pitchFamily="34" charset="0"/>
              <a:buChar char="q"/>
            </a:pPr>
            <a:endParaRPr lang="en-US" sz="2000" dirty="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q"/>
            </a:pPr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0DCB4-9ED2-1268-A0BB-B10A8CC6D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2209945"/>
            <a:ext cx="4737650" cy="246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5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E5504-5476-50E1-7AAF-3C5E510D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Python Advanced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724B-90E2-3EA5-37A9-8457D0A9F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9570295" cy="3917773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8A252-F809-2B70-FF01-721D8CBB9486}"/>
              </a:ext>
            </a:extLst>
          </p:cNvPr>
          <p:cNvSpPr txBox="1"/>
          <p:nvPr/>
        </p:nvSpPr>
        <p:spPr>
          <a:xfrm>
            <a:off x="1137034" y="2218424"/>
            <a:ext cx="97718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Map</a:t>
            </a:r>
            <a:r>
              <a:rPr lang="en-US" dirty="0"/>
              <a:t>: Applies a specific function to every item in an </a:t>
            </a:r>
            <a:r>
              <a:rPr lang="en-US" dirty="0" err="1"/>
              <a:t>iterable</a:t>
            </a:r>
            <a:r>
              <a:rPr lang="en-US" dirty="0"/>
              <a:t> (like a list) and returns an iterator.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Filter</a:t>
            </a:r>
            <a:r>
              <a:rPr lang="en-US" dirty="0"/>
              <a:t>: Filters a sequence by testing each element against a function that returns a </a:t>
            </a:r>
            <a:r>
              <a:rPr lang="en-US" dirty="0" err="1"/>
              <a:t>boolean</a:t>
            </a:r>
            <a:r>
              <a:rPr lang="en-US" dirty="0"/>
              <a:t> (True/False).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Reduce</a:t>
            </a:r>
            <a:r>
              <a:rPr lang="en-US" dirty="0"/>
              <a:t>: Part of the </a:t>
            </a:r>
            <a:r>
              <a:rPr lang="en-US" dirty="0" err="1"/>
              <a:t>functools</a:t>
            </a:r>
            <a:r>
              <a:rPr lang="en-US" dirty="0"/>
              <a:t> module, this function progressively reduces a sequence to a single value by applying a rolling computation (e.g., finding the sum or product of a list).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Zip</a:t>
            </a:r>
            <a:r>
              <a:rPr lang="en-US" dirty="0"/>
              <a:t>: The zip() function combines multiple </a:t>
            </a:r>
            <a:r>
              <a:rPr lang="en-US" dirty="0" err="1"/>
              <a:t>iterables</a:t>
            </a:r>
            <a:r>
              <a:rPr lang="en-US" dirty="0"/>
              <a:t> into a single </a:t>
            </a:r>
            <a:r>
              <a:rPr lang="en-US" dirty="0" err="1"/>
              <a:t>iterable</a:t>
            </a:r>
            <a:r>
              <a:rPr lang="en-US" dirty="0"/>
              <a:t> of tuples. The zip() function stops when the shortest </a:t>
            </a:r>
            <a:r>
              <a:rPr lang="en-US" dirty="0" err="1"/>
              <a:t>iterable</a:t>
            </a:r>
            <a:r>
              <a:rPr lang="en-US" dirty="0"/>
              <a:t> is exhausted.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Enumerate </a:t>
            </a:r>
            <a:r>
              <a:rPr lang="en-US" dirty="0"/>
              <a:t>- The enumerate() function adds a counter to an </a:t>
            </a:r>
            <a:r>
              <a:rPr lang="en-US" dirty="0" err="1"/>
              <a:t>iterable</a:t>
            </a:r>
            <a:r>
              <a:rPr lang="en-US" dirty="0"/>
              <a:t> and returns an </a:t>
            </a:r>
            <a:r>
              <a:rPr lang="en-US" dirty="0" err="1"/>
              <a:t>iterable</a:t>
            </a:r>
            <a:r>
              <a:rPr lang="en-US" dirty="0"/>
              <a:t> of tuples, where each tuple consists of the counter and the original element.</a:t>
            </a:r>
          </a:p>
        </p:txBody>
      </p:sp>
    </p:spTree>
    <p:extLst>
      <p:ext uri="{BB962C8B-B14F-4D97-AF65-F5344CB8AC3E}">
        <p14:creationId xmlns:p14="http://schemas.microsoft.com/office/powerpoint/2010/main" val="256235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EE7C-5BB8-6D04-74DD-923877D8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Multithreading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269E-6D26-627D-F622-C56146E2E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Python multithreading allows a program to run multiple tasks concurrently within a single process. It is primarily used to improve the efficiency of I/O-bound tasks (like downloading files or web scraping), where the program spends a lot of time waiting for external resources. </a:t>
            </a:r>
          </a:p>
          <a:p>
            <a:endParaRPr lang="en-US" sz="1800" dirty="0"/>
          </a:p>
          <a:p>
            <a:r>
              <a:rPr lang="en-US" sz="1800" b="1" dirty="0"/>
              <a:t>Concurrency, not true Parallelism</a:t>
            </a:r>
            <a:r>
              <a:rPr lang="en-US" sz="1800" dirty="0"/>
              <a:t>: Because of the GIL, multithreading doesn't speed up CPU-heavy math (CPU-bound tasks). Instead, it "switches" between threads very fast to hide latency during waiting periods.</a:t>
            </a:r>
          </a:p>
          <a:p>
            <a:endParaRPr lang="en-US" sz="1800" dirty="0"/>
          </a:p>
          <a:p>
            <a:r>
              <a:rPr lang="en-US" sz="1800" b="1" dirty="0"/>
              <a:t>Shared Memory</a:t>
            </a:r>
            <a:r>
              <a:rPr lang="en-US" sz="1800" dirty="0"/>
              <a:t>: Unlike separate processes, all threads in one program share the same memory space, making it easy to share data but requiring Locks to prevent data corruption.</a:t>
            </a:r>
          </a:p>
          <a:p>
            <a:endParaRPr lang="en-US" sz="1800" dirty="0"/>
          </a:p>
          <a:p>
            <a:r>
              <a:rPr lang="en-US" sz="1800" b="1" dirty="0"/>
              <a:t>Modern Update</a:t>
            </a:r>
            <a:r>
              <a:rPr lang="en-US" sz="1800" dirty="0"/>
              <a:t>: Newer versions like Python 3.13+ have introduced experimental "free-threaded" builds that can run without the GIL, allowing true parallel execution on multiple CPU cores.</a:t>
            </a:r>
          </a:p>
        </p:txBody>
      </p:sp>
    </p:spTree>
    <p:extLst>
      <p:ext uri="{BB962C8B-B14F-4D97-AF65-F5344CB8AC3E}">
        <p14:creationId xmlns:p14="http://schemas.microsoft.com/office/powerpoint/2010/main" val="3569910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0BF8-7C52-B333-B473-06CA55CA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75539-74C2-B131-11F9-10595E1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Python, regular expressions (regex) are handled through the </a:t>
            </a:r>
            <a:r>
              <a:rPr lang="en-US" sz="1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built-in re module</a:t>
            </a:r>
            <a:r>
              <a:rPr lang="en-US" sz="1800" dirty="0"/>
              <a:t>, which provides a powerful set of tools for searching, matching, and manipulating text strings based on specific patterns</a:t>
            </a:r>
          </a:p>
          <a:p>
            <a:r>
              <a:rPr lang="en-US" sz="1800" b="1" dirty="0" err="1"/>
              <a:t>re.search</a:t>
            </a:r>
            <a:r>
              <a:rPr lang="en-US" sz="1800" b="1" dirty="0"/>
              <a:t>():</a:t>
            </a:r>
            <a:r>
              <a:rPr lang="en-US" sz="1800" dirty="0"/>
              <a:t> Scans through a string and returns a match object for the first location where the pattern is found.</a:t>
            </a:r>
          </a:p>
          <a:p>
            <a:r>
              <a:rPr lang="en-US" sz="1800" b="1" dirty="0" err="1"/>
              <a:t>re.match</a:t>
            </a:r>
            <a:r>
              <a:rPr lang="en-US" sz="1800" b="1" dirty="0"/>
              <a:t>(): </a:t>
            </a:r>
            <a:r>
              <a:rPr lang="en-US" sz="1800" dirty="0"/>
              <a:t>Checks for a match only at the beginning of the string.</a:t>
            </a:r>
          </a:p>
          <a:p>
            <a:endParaRPr lang="en-US" sz="1800" dirty="0"/>
          </a:p>
          <a:p>
            <a:r>
              <a:rPr lang="en-US" sz="1800" b="1" dirty="0" err="1"/>
              <a:t>re.findall</a:t>
            </a:r>
            <a:r>
              <a:rPr lang="en-US" sz="1800" b="1" dirty="0"/>
              <a:t>(): </a:t>
            </a:r>
            <a:r>
              <a:rPr lang="en-US" sz="1800" dirty="0"/>
              <a:t>Returns a list of all non-overlapping matches of a pattern in the string.</a:t>
            </a:r>
          </a:p>
          <a:p>
            <a:endParaRPr lang="en-US" sz="1800" dirty="0"/>
          </a:p>
          <a:p>
            <a:r>
              <a:rPr lang="en-US" sz="1800" b="1" dirty="0" err="1"/>
              <a:t>re.sub</a:t>
            </a:r>
            <a:r>
              <a:rPr lang="en-US" sz="1800" b="1" dirty="0"/>
              <a:t>(): </a:t>
            </a:r>
            <a:r>
              <a:rPr lang="en-US" sz="1800" dirty="0"/>
              <a:t>Replaces occurrences of a pattern with a specified replacement string. </a:t>
            </a:r>
          </a:p>
          <a:p>
            <a:r>
              <a:rPr lang="en-US" sz="1800" b="1" dirty="0" err="1"/>
              <a:t>re.split</a:t>
            </a:r>
            <a:r>
              <a:rPr lang="en-US" sz="1800" b="1" dirty="0"/>
              <a:t>(): </a:t>
            </a:r>
            <a:r>
              <a:rPr lang="en-US" sz="1800" dirty="0"/>
              <a:t>Splits a string into a list wherever the pattern matches. </a:t>
            </a:r>
          </a:p>
          <a:p>
            <a:r>
              <a:rPr lang="en-US" sz="1800" b="1" dirty="0" err="1"/>
              <a:t>re.compile</a:t>
            </a:r>
            <a:r>
              <a:rPr lang="en-US" sz="1800" b="1" dirty="0"/>
              <a:t>(): </a:t>
            </a:r>
            <a:r>
              <a:rPr lang="en-US" sz="1800" dirty="0"/>
              <a:t>Compiles a regex pattern into a reusable pattern object, which is more efficient if the pattern is used multiple times. </a:t>
            </a:r>
          </a:p>
        </p:txBody>
      </p:sp>
    </p:spTree>
    <p:extLst>
      <p:ext uri="{BB962C8B-B14F-4D97-AF65-F5344CB8AC3E}">
        <p14:creationId xmlns:p14="http://schemas.microsoft.com/office/powerpoint/2010/main" val="2856633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0DBB-8006-D582-F717-BB20A1C1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/>
              <a:t>Overview of REST API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40B2CE4-B5CC-6B8A-D3D5-419D2DA6B1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/>
              <a:t>Python is one of the most popular languages for building and interacting with REST (Representational State Transfer) APIs. These APIs act as a standardized contract between different software systems, allowing them to exchange data—usually in JSON format—over HTTP.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5509F-91A0-3F86-038F-A5A41AAD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10" y="2540554"/>
            <a:ext cx="4737650" cy="179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64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5C4C-D615-66B5-E98D-6CD5842E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API for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81C3-A8CE-F648-94FD-A33BC2FE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Working with JSON in Python typically involves two main tasks: parsing data from an external API or building your own API that serves JSON.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json.loads</a:t>
            </a:r>
            <a:r>
              <a:rPr lang="en-US" sz="2000" b="1" dirty="0"/>
              <a:t>(string): </a:t>
            </a:r>
            <a:r>
              <a:rPr lang="en-US" sz="2000" dirty="0"/>
              <a:t>Decodes a JSON-formatted string into a Python dictionary or list.</a:t>
            </a:r>
          </a:p>
          <a:p>
            <a:endParaRPr lang="en-US" sz="2000" dirty="0"/>
          </a:p>
          <a:p>
            <a:r>
              <a:rPr lang="en-US" sz="2000" b="1" dirty="0" err="1"/>
              <a:t>json.dumps</a:t>
            </a:r>
            <a:r>
              <a:rPr lang="en-US" sz="2000" b="1" dirty="0"/>
              <a:t>(obj): </a:t>
            </a:r>
            <a:r>
              <a:rPr lang="en-US" sz="2000" dirty="0"/>
              <a:t>Encodes a Python object into a JSON-formatted string (useful for sending data to an API).</a:t>
            </a:r>
          </a:p>
          <a:p>
            <a:endParaRPr lang="en-US" sz="2000" dirty="0"/>
          </a:p>
          <a:p>
            <a:r>
              <a:rPr lang="en-US" sz="2000" b="1" dirty="0" err="1"/>
              <a:t>json.load</a:t>
            </a:r>
            <a:r>
              <a:rPr lang="en-US" sz="2000" b="1" dirty="0"/>
              <a:t>(file) and </a:t>
            </a:r>
            <a:r>
              <a:rPr lang="en-US" sz="2000" b="1" dirty="0" err="1"/>
              <a:t>json.dump</a:t>
            </a:r>
            <a:r>
              <a:rPr lang="en-US" sz="2000" b="1" dirty="0"/>
              <a:t>(obj, file): </a:t>
            </a:r>
            <a:r>
              <a:rPr lang="en-US" sz="2000" dirty="0"/>
              <a:t>Used for reading from or writing directly to .</a:t>
            </a:r>
            <a:r>
              <a:rPr lang="en-US" sz="2000" dirty="0" err="1"/>
              <a:t>json</a:t>
            </a:r>
            <a:r>
              <a:rPr lang="en-US" sz="2000" dirty="0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242876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50E-C0A1-C9BF-2502-54EA9A09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Wrap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2360-20AC-B4B9-E6D4-F21EB8C7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Python Automation for Network engineering 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Network Libraries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Modules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Python Lambda Functions</a:t>
            </a:r>
          </a:p>
        </p:txBody>
      </p:sp>
    </p:spTree>
    <p:extLst>
      <p:ext uri="{BB962C8B-B14F-4D97-AF65-F5344CB8AC3E}">
        <p14:creationId xmlns:p14="http://schemas.microsoft.com/office/powerpoint/2010/main" val="8161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</TotalTime>
  <Words>722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2013 - 2022 Theme</vt:lpstr>
      <vt:lpstr>Python Scripting with Network</vt:lpstr>
      <vt:lpstr>Agenda</vt:lpstr>
      <vt:lpstr>Python for Network Automation </vt:lpstr>
      <vt:lpstr>Python Advanced Functions </vt:lpstr>
      <vt:lpstr>Python Multithreading</vt:lpstr>
      <vt:lpstr>Python Regular Expressions</vt:lpstr>
      <vt:lpstr>Overview of REST API</vt:lpstr>
      <vt:lpstr>JSON API for Python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32</cp:revision>
  <dcterms:created xsi:type="dcterms:W3CDTF">2026-04-11T17:33:10Z</dcterms:created>
  <dcterms:modified xsi:type="dcterms:W3CDTF">2026-05-27T16:47:02Z</dcterms:modified>
</cp:coreProperties>
</file>