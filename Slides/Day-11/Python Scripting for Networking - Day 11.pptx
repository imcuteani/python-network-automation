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83" r:id="rId2"/>
    <p:sldId id="257" r:id="rId3"/>
    <p:sldId id="299" r:id="rId4"/>
    <p:sldId id="292" r:id="rId5"/>
    <p:sldId id="301" r:id="rId6"/>
    <p:sldId id="295" r:id="rId7"/>
    <p:sldId id="296" r:id="rId8"/>
    <p:sldId id="280"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94" autoAdjust="0"/>
    <p:restoredTop sz="94061" autoAdjust="0"/>
  </p:normalViewPr>
  <p:slideViewPr>
    <p:cSldViewPr snapToGrid="0">
      <p:cViewPr varScale="1">
        <p:scale>
          <a:sx n="65" d="100"/>
          <a:sy n="65" d="100"/>
        </p:scale>
        <p:origin x="822" y="78"/>
      </p:cViewPr>
      <p:guideLst/>
    </p:cSldViewPr>
  </p:slideViewPr>
  <p:outlineViewPr>
    <p:cViewPr>
      <p:scale>
        <a:sx n="33" d="100"/>
        <a:sy n="33" d="100"/>
      </p:scale>
      <p:origin x="0" y="-1656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1D1EADE-8E88-4C7C-8AC5-FB148DE4940E}" type="datetime1">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3812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7B6794-849E-4626-908B-D15793550EFB}" type="datetime1">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1052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538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462B0B-D248-4FFB-8695-AD7FA4B1284A}" type="datetime1">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29133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378EFB-9159-4510-B73F-4F0409ADE937}" type="datetime1">
              <a:rPr lang="en-US" smtClean="0"/>
              <a:t>6/5/2026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88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BC9412-2452-4BED-A324-9D8C115361AD}" type="datetime1">
              <a:rPr lang="en-US" smtClean="0"/>
              <a:t>6/5/2026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6126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6/5/2026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845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527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226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3C8B9C-477D-492A-96AD-1FC2CC997A73}" type="datetime1">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32429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D3AED5-E26D-4E29-B1B3-7847B6779594}" type="datetime1">
              <a:rPr lang="en-US"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3500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1BA835-12AC-4E8F-955A-EA3F4DE2791F}" type="datetime1">
              <a:rPr lang="en-US" smtClean="0"/>
              <a:t>6/5/2026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42264235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docs.ansible.com/projects/ansible/latest/reference_appendices/python_3_support.html" TargetMode="External"/><Relationship Id="rId2" Type="http://schemas.openxmlformats.org/officeDocument/2006/relationships/hyperlink" Target="https://docs.ansible.com/projects/ansible/latest/dev_guide/developing_python_3.htm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jinja.palletsprojects.com/"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F670B7-BE47-7E35-0D27-0BAB2C56105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219B7A-2A46-EAB6-DB28-580FA3519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92BC140-2EEB-8EEA-E87E-6A111266ED29}"/>
              </a:ext>
            </a:extLst>
          </p:cNvPr>
          <p:cNvPicPr>
            <a:picLocks noChangeAspect="1"/>
          </p:cNvPicPr>
          <p:nvPr/>
        </p:nvPicPr>
        <p:blipFill>
          <a:blip r:embed="rId2"/>
          <a:srcRect r="10666" b="-1"/>
          <a:stretch>
            <a:fillRect/>
          </a:stretch>
        </p:blipFill>
        <p:spPr>
          <a:xfrm>
            <a:off x="20" y="10"/>
            <a:ext cx="12191980" cy="6857990"/>
          </a:xfrm>
          <a:prstGeom prst="rect">
            <a:avLst/>
          </a:prstGeom>
        </p:spPr>
      </p:pic>
      <p:sp>
        <p:nvSpPr>
          <p:cNvPr id="11" name="Graphic 1">
            <a:extLst>
              <a:ext uri="{FF2B5EF4-FFF2-40B4-BE49-F238E27FC236}">
                <a16:creationId xmlns:a16="http://schemas.microsoft.com/office/drawing/2014/main" id="{83B80ED1-C27B-6D48-B5D8-A825BB88C9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655438" y="838201"/>
            <a:ext cx="7098161" cy="4549051"/>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 name="Title 1">
            <a:extLst>
              <a:ext uri="{FF2B5EF4-FFF2-40B4-BE49-F238E27FC236}">
                <a16:creationId xmlns:a16="http://schemas.microsoft.com/office/drawing/2014/main" id="{30F9ED15-CDB1-785A-7695-72DF53472499}"/>
              </a:ext>
            </a:extLst>
          </p:cNvPr>
          <p:cNvSpPr>
            <a:spLocks noGrp="1"/>
          </p:cNvSpPr>
          <p:nvPr>
            <p:ph type="ctrTitle"/>
          </p:nvPr>
        </p:nvSpPr>
        <p:spPr>
          <a:xfrm>
            <a:off x="3325473" y="1924619"/>
            <a:ext cx="5541054" cy="1655378"/>
          </a:xfrm>
        </p:spPr>
        <p:txBody>
          <a:bodyPr>
            <a:normAutofit/>
          </a:bodyPr>
          <a:lstStyle/>
          <a:p>
            <a:r>
              <a:rPr lang="en-US" sz="3700" dirty="0"/>
              <a:t>Python Scripting with Network</a:t>
            </a:r>
          </a:p>
        </p:txBody>
      </p:sp>
      <p:sp>
        <p:nvSpPr>
          <p:cNvPr id="3" name="Subtitle 2">
            <a:extLst>
              <a:ext uri="{FF2B5EF4-FFF2-40B4-BE49-F238E27FC236}">
                <a16:creationId xmlns:a16="http://schemas.microsoft.com/office/drawing/2014/main" id="{1767AC54-0FE9-0C64-0851-2225707E0491}"/>
              </a:ext>
            </a:extLst>
          </p:cNvPr>
          <p:cNvSpPr>
            <a:spLocks noGrp="1"/>
          </p:cNvSpPr>
          <p:nvPr>
            <p:ph type="subTitle" idx="1"/>
          </p:nvPr>
        </p:nvSpPr>
        <p:spPr>
          <a:xfrm>
            <a:off x="3880419" y="3668285"/>
            <a:ext cx="4431162" cy="1337967"/>
          </a:xfrm>
        </p:spPr>
        <p:txBody>
          <a:bodyPr vert="horz" lIns="91440" tIns="45720" rIns="91440" bIns="45720" rtlCol="0" anchor="t">
            <a:normAutofit/>
          </a:bodyPr>
          <a:lstStyle/>
          <a:p>
            <a:r>
              <a:rPr lang="en-US" dirty="0"/>
              <a:t>Day 11</a:t>
            </a:r>
          </a:p>
        </p:txBody>
      </p:sp>
    </p:spTree>
    <p:extLst>
      <p:ext uri="{BB962C8B-B14F-4D97-AF65-F5344CB8AC3E}">
        <p14:creationId xmlns:p14="http://schemas.microsoft.com/office/powerpoint/2010/main" val="200631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2BB31E-A9BD-D8C3-F865-874E07BC1798}"/>
              </a:ext>
            </a:extLst>
          </p:cNvPr>
          <p:cNvSpPr>
            <a:spLocks noGrp="1"/>
          </p:cNvSpPr>
          <p:nvPr>
            <p:ph type="title"/>
          </p:nvPr>
        </p:nvSpPr>
        <p:spPr>
          <a:xfrm>
            <a:off x="5297762" y="329184"/>
            <a:ext cx="6251110" cy="1783080"/>
          </a:xfrm>
        </p:spPr>
        <p:txBody>
          <a:bodyPr anchor="b">
            <a:normAutofit/>
          </a:bodyPr>
          <a:lstStyle/>
          <a:p>
            <a:r>
              <a:rPr lang="en-US" sz="5400" dirty="0"/>
              <a:t>Agenda</a:t>
            </a:r>
          </a:p>
        </p:txBody>
      </p:sp>
      <p:pic>
        <p:nvPicPr>
          <p:cNvPr id="22" name="Picture 21" descr="Computer script on a screen">
            <a:extLst>
              <a:ext uri="{FF2B5EF4-FFF2-40B4-BE49-F238E27FC236}">
                <a16:creationId xmlns:a16="http://schemas.microsoft.com/office/drawing/2014/main" id="{E3E24C0B-1BDE-A4F0-4482-865C265ACB09}"/>
              </a:ext>
            </a:extLst>
          </p:cNvPr>
          <p:cNvPicPr>
            <a:picLocks noChangeAspect="1"/>
          </p:cNvPicPr>
          <p:nvPr/>
        </p:nvPicPr>
        <p:blipFill>
          <a:blip r:embed="rId2"/>
          <a:srcRect l="7448" r="47221"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8"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18882D-3313-EA10-DF38-9C2AAE0C7A76}"/>
              </a:ext>
            </a:extLst>
          </p:cNvPr>
          <p:cNvSpPr>
            <a:spLocks noGrp="1"/>
          </p:cNvSpPr>
          <p:nvPr>
            <p:ph idx="1"/>
          </p:nvPr>
        </p:nvSpPr>
        <p:spPr>
          <a:xfrm>
            <a:off x="5297762" y="2749756"/>
            <a:ext cx="6251110" cy="3440732"/>
          </a:xfrm>
        </p:spPr>
        <p:txBody>
          <a:bodyPr vert="horz" lIns="91440" tIns="45720" rIns="91440" bIns="45720" rtlCol="0" anchor="t">
            <a:normAutofit/>
          </a:bodyPr>
          <a:lstStyle/>
          <a:p>
            <a:r>
              <a:rPr lang="en-US" sz="2200" dirty="0">
                <a:ea typeface="Calibri" panose="020F0502020204030204"/>
                <a:cs typeface="Calibri" panose="020F0502020204030204"/>
              </a:rPr>
              <a:t>Network Monitoring Automation</a:t>
            </a:r>
          </a:p>
          <a:p>
            <a:r>
              <a:rPr lang="en-US" sz="2200" dirty="0">
                <a:ea typeface="Calibri" panose="020F0502020204030204"/>
                <a:cs typeface="Calibri" panose="020F0502020204030204"/>
              </a:rPr>
              <a:t>Working with Ansible</a:t>
            </a:r>
          </a:p>
          <a:p>
            <a:r>
              <a:rPr lang="en-US" sz="2200" dirty="0">
                <a:ea typeface="Calibri" panose="020F0502020204030204"/>
                <a:cs typeface="Calibri" panose="020F0502020204030204"/>
              </a:rPr>
              <a:t>YAML based automation</a:t>
            </a:r>
          </a:p>
          <a:p>
            <a:r>
              <a:rPr lang="en-US" sz="2200" dirty="0">
                <a:ea typeface="Calibri" panose="020F0502020204030204"/>
                <a:cs typeface="Calibri" panose="020F0502020204030204"/>
              </a:rPr>
              <a:t>Python JINJA library</a:t>
            </a:r>
          </a:p>
          <a:p>
            <a:r>
              <a:rPr lang="en-US" sz="2200" dirty="0">
                <a:ea typeface="Calibri" panose="020F0502020204030204"/>
                <a:cs typeface="Calibri" panose="020F0502020204030204"/>
              </a:rPr>
              <a:t>Python NAPALM Library</a:t>
            </a:r>
          </a:p>
          <a:p>
            <a:endParaRPr lang="en-US" sz="2200" dirty="0">
              <a:ea typeface="Calibri" panose="020F0502020204030204"/>
              <a:cs typeface="Calibri" panose="020F0502020204030204"/>
            </a:endParaRPr>
          </a:p>
          <a:p>
            <a:endParaRPr lang="en-US" sz="2200" dirty="0">
              <a:ea typeface="Calibri" panose="020F0502020204030204"/>
              <a:cs typeface="Calibri" panose="020F0502020204030204"/>
            </a:endParaRPr>
          </a:p>
        </p:txBody>
      </p:sp>
    </p:spTree>
    <p:extLst>
      <p:ext uri="{BB962C8B-B14F-4D97-AF65-F5344CB8AC3E}">
        <p14:creationId xmlns:p14="http://schemas.microsoft.com/office/powerpoint/2010/main" val="1979873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B20CD-8B35-627E-14E3-0380358A726C}"/>
              </a:ext>
            </a:extLst>
          </p:cNvPr>
          <p:cNvSpPr>
            <a:spLocks noGrp="1"/>
          </p:cNvSpPr>
          <p:nvPr>
            <p:ph type="title"/>
          </p:nvPr>
        </p:nvSpPr>
        <p:spPr/>
        <p:txBody>
          <a:bodyPr/>
          <a:lstStyle/>
          <a:p>
            <a:r>
              <a:rPr lang="en-US" dirty="0"/>
              <a:t>Python Network Controller API</a:t>
            </a:r>
          </a:p>
        </p:txBody>
      </p:sp>
      <p:sp>
        <p:nvSpPr>
          <p:cNvPr id="3" name="Content Placeholder 2">
            <a:extLst>
              <a:ext uri="{FF2B5EF4-FFF2-40B4-BE49-F238E27FC236}">
                <a16:creationId xmlns:a16="http://schemas.microsoft.com/office/drawing/2014/main" id="{B6BAE6CC-F0C3-145A-21D5-469E53F6C163}"/>
              </a:ext>
            </a:extLst>
          </p:cNvPr>
          <p:cNvSpPr>
            <a:spLocks noGrp="1"/>
          </p:cNvSpPr>
          <p:nvPr>
            <p:ph idx="1"/>
          </p:nvPr>
        </p:nvSpPr>
        <p:spPr/>
        <p:txBody>
          <a:bodyPr/>
          <a:lstStyle/>
          <a:p>
            <a:r>
              <a:rPr lang="en-US" sz="2000" dirty="0"/>
              <a:t>Python network monitoring automation allows engineers to track device availability, gather performance metrics, and alert teams to anomalies without human intervention.</a:t>
            </a:r>
          </a:p>
          <a:p>
            <a:r>
              <a:rPr lang="en-US" sz="2000" dirty="0"/>
              <a:t> By combining structured scripting with purpose-built networking libraries, you can transition from manual CLI checks to programmatic, proactive management. </a:t>
            </a:r>
          </a:p>
          <a:p>
            <a:endParaRPr lang="en-US" sz="2000" dirty="0"/>
          </a:p>
          <a:p>
            <a:r>
              <a:rPr lang="en-US" b="1" dirty="0"/>
              <a:t>NAPALM</a:t>
            </a:r>
            <a:r>
              <a:rPr lang="en-US" sz="2000" dirty="0"/>
              <a:t>: Implements a unified, vendor-agnostic API for cross-platform data collection.</a:t>
            </a:r>
          </a:p>
          <a:p>
            <a:r>
              <a:rPr lang="en-US" b="1" dirty="0" err="1"/>
              <a:t>Nornir</a:t>
            </a:r>
            <a:r>
              <a:rPr lang="en-US" sz="2000" dirty="0"/>
              <a:t>: Functions as a pluggable multi-threaded framework to manage vast device inventories simultaneously.</a:t>
            </a:r>
          </a:p>
          <a:p>
            <a:r>
              <a:rPr lang="en-US" b="1" dirty="0" err="1"/>
              <a:t>Scapy</a:t>
            </a:r>
            <a:r>
              <a:rPr lang="en-US" sz="2000" dirty="0"/>
              <a:t>: Offers advanced packet manipulation and real-time deep packet analysis.</a:t>
            </a:r>
          </a:p>
          <a:p>
            <a:r>
              <a:rPr lang="en-US" b="1" dirty="0" err="1"/>
              <a:t>NCClient</a:t>
            </a:r>
            <a:r>
              <a:rPr lang="en-US" sz="2000" dirty="0"/>
              <a:t>: Handles client-side scripting for XML-based NETCONF APIs on modern switches.</a:t>
            </a:r>
          </a:p>
        </p:txBody>
      </p:sp>
    </p:spTree>
    <p:extLst>
      <p:ext uri="{BB962C8B-B14F-4D97-AF65-F5344CB8AC3E}">
        <p14:creationId xmlns:p14="http://schemas.microsoft.com/office/powerpoint/2010/main" val="1157428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65C4C-D615-66B5-E98D-6CD5842EA4A1}"/>
              </a:ext>
            </a:extLst>
          </p:cNvPr>
          <p:cNvSpPr>
            <a:spLocks noGrp="1"/>
          </p:cNvSpPr>
          <p:nvPr>
            <p:ph type="title"/>
          </p:nvPr>
        </p:nvSpPr>
        <p:spPr/>
        <p:txBody>
          <a:bodyPr/>
          <a:lstStyle/>
          <a:p>
            <a:r>
              <a:rPr lang="en-US" dirty="0"/>
              <a:t>Working with Ansible</a:t>
            </a:r>
          </a:p>
        </p:txBody>
      </p:sp>
      <p:sp>
        <p:nvSpPr>
          <p:cNvPr id="3" name="Content Placeholder 2">
            <a:extLst>
              <a:ext uri="{FF2B5EF4-FFF2-40B4-BE49-F238E27FC236}">
                <a16:creationId xmlns:a16="http://schemas.microsoft.com/office/drawing/2014/main" id="{F53D81C3-A8CE-F648-94FD-A33BC2FE12A9}"/>
              </a:ext>
            </a:extLst>
          </p:cNvPr>
          <p:cNvSpPr>
            <a:spLocks noGrp="1"/>
          </p:cNvSpPr>
          <p:nvPr>
            <p:ph idx="1"/>
          </p:nvPr>
        </p:nvSpPr>
        <p:spPr/>
        <p:txBody>
          <a:bodyPr>
            <a:normAutofit/>
          </a:bodyPr>
          <a:lstStyle/>
          <a:p>
            <a:r>
              <a:rPr lang="en-US" sz="2000" dirty="0"/>
              <a:t>Ansible is an open-source IT automation engine written entirely in Python that uses declarative YAML files (Playbooks) to manage configurations, deploy software, and orchestrate infrastructure.</a:t>
            </a:r>
          </a:p>
          <a:p>
            <a:endParaRPr lang="en-US" sz="2000" dirty="0"/>
          </a:p>
          <a:p>
            <a:r>
              <a:rPr lang="en-US" sz="2000" b="1" dirty="0"/>
              <a:t>How Python and Ansible Interact</a:t>
            </a:r>
          </a:p>
          <a:p>
            <a:r>
              <a:rPr lang="en-US" sz="2000" dirty="0"/>
              <a:t>The Engine: Ansible runs on Python. It converts your YAML playbook tasks into small Python scripts behind the scenes.</a:t>
            </a:r>
          </a:p>
          <a:p>
            <a:r>
              <a:rPr lang="en-US" sz="2000" dirty="0"/>
              <a:t>The Control Node: The machine executing the commands requires a modern version of </a:t>
            </a:r>
            <a:r>
              <a:rPr lang="en-US" sz="2000" dirty="0">
                <a:hlinkClick r:id="rId2">
                  <a:extLst>
                    <a:ext uri="{A12FA001-AC4F-418D-AE19-62706E023703}">
                      <ahyp:hlinkClr xmlns:ahyp="http://schemas.microsoft.com/office/drawing/2018/hyperlinkcolor" val="tx"/>
                    </a:ext>
                  </a:extLst>
                </a:hlinkClick>
              </a:rPr>
              <a:t>Ansible and Python 3</a:t>
            </a:r>
            <a:r>
              <a:rPr lang="en-US" sz="2000" dirty="0"/>
              <a:t>.</a:t>
            </a:r>
          </a:p>
          <a:p>
            <a:r>
              <a:rPr lang="en-US" sz="2000" dirty="0"/>
              <a:t>The Managed Nodes: The target servers do not need Ansible installed, but they must have a </a:t>
            </a:r>
            <a:r>
              <a:rPr lang="en-US" sz="2000" dirty="0">
                <a:hlinkClick r:id="rId3">
                  <a:extLst>
                    <a:ext uri="{A12FA001-AC4F-418D-AE19-62706E023703}">
                      <ahyp:hlinkClr xmlns:ahyp="http://schemas.microsoft.com/office/drawing/2018/hyperlinkcolor" val="tx"/>
                    </a:ext>
                  </a:extLst>
                </a:hlinkClick>
              </a:rPr>
              <a:t>Python interpreter</a:t>
            </a:r>
            <a:r>
              <a:rPr lang="en-US" sz="2000" dirty="0"/>
              <a:t> to execute the pushed scripts. </a:t>
            </a:r>
          </a:p>
        </p:txBody>
      </p:sp>
    </p:spTree>
    <p:extLst>
      <p:ext uri="{BB962C8B-B14F-4D97-AF65-F5344CB8AC3E}">
        <p14:creationId xmlns:p14="http://schemas.microsoft.com/office/powerpoint/2010/main" val="2428767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D6AC8-723B-3926-2296-F10BC356E987}"/>
              </a:ext>
            </a:extLst>
          </p:cNvPr>
          <p:cNvSpPr>
            <a:spLocks noGrp="1"/>
          </p:cNvSpPr>
          <p:nvPr>
            <p:ph type="title"/>
          </p:nvPr>
        </p:nvSpPr>
        <p:spPr/>
        <p:txBody>
          <a:bodyPr/>
          <a:lstStyle/>
          <a:p>
            <a:r>
              <a:rPr lang="en-US" dirty="0"/>
              <a:t>Python V/s Ansible Automation</a:t>
            </a:r>
          </a:p>
        </p:txBody>
      </p:sp>
      <p:pic>
        <p:nvPicPr>
          <p:cNvPr id="5" name="Content Placeholder 4">
            <a:extLst>
              <a:ext uri="{FF2B5EF4-FFF2-40B4-BE49-F238E27FC236}">
                <a16:creationId xmlns:a16="http://schemas.microsoft.com/office/drawing/2014/main" id="{17886D20-BB1E-84E9-77B0-8AADD854E1A4}"/>
              </a:ext>
            </a:extLst>
          </p:cNvPr>
          <p:cNvPicPr>
            <a:picLocks noGrp="1" noChangeAspect="1"/>
          </p:cNvPicPr>
          <p:nvPr>
            <p:ph idx="1"/>
          </p:nvPr>
        </p:nvPicPr>
        <p:blipFill>
          <a:blip r:embed="rId2"/>
          <a:stretch>
            <a:fillRect/>
          </a:stretch>
        </p:blipFill>
        <p:spPr>
          <a:xfrm>
            <a:off x="2550702" y="1937595"/>
            <a:ext cx="6622533" cy="366679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00769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12A29-C420-F6C7-43D0-DC774B32144E}"/>
              </a:ext>
            </a:extLst>
          </p:cNvPr>
          <p:cNvSpPr>
            <a:spLocks noGrp="1"/>
          </p:cNvSpPr>
          <p:nvPr>
            <p:ph type="title"/>
          </p:nvPr>
        </p:nvSpPr>
        <p:spPr/>
        <p:txBody>
          <a:bodyPr/>
          <a:lstStyle/>
          <a:p>
            <a:r>
              <a:rPr lang="en-US" dirty="0"/>
              <a:t>Python JINJA library</a:t>
            </a:r>
          </a:p>
        </p:txBody>
      </p:sp>
      <p:sp>
        <p:nvSpPr>
          <p:cNvPr id="3" name="Content Placeholder 2">
            <a:extLst>
              <a:ext uri="{FF2B5EF4-FFF2-40B4-BE49-F238E27FC236}">
                <a16:creationId xmlns:a16="http://schemas.microsoft.com/office/drawing/2014/main" id="{2ED93877-5179-34CD-7DDD-34FABB0EB579}"/>
              </a:ext>
            </a:extLst>
          </p:cNvPr>
          <p:cNvSpPr>
            <a:spLocks noGrp="1"/>
          </p:cNvSpPr>
          <p:nvPr>
            <p:ph idx="1"/>
          </p:nvPr>
        </p:nvSpPr>
        <p:spPr/>
        <p:txBody>
          <a:bodyPr>
            <a:normAutofit/>
          </a:bodyPr>
          <a:lstStyle/>
          <a:p>
            <a:r>
              <a:rPr lang="en-US" sz="1800" dirty="0">
                <a:hlinkClick r:id="rId2"/>
              </a:rPr>
              <a:t>Jinja</a:t>
            </a:r>
            <a:r>
              <a:rPr lang="en-US" sz="1800" dirty="0"/>
              <a:t> is a fast, expressive, and highly extensible templating engine for Python. It allows you to generate dynamic HTML, XML, CSV, or plain text configuration files by combining raw text with special placeholders and programming logic. It is widely used in frameworks like Flask, </a:t>
            </a:r>
            <a:r>
              <a:rPr lang="en-US" sz="1800" dirty="0" err="1"/>
              <a:t>FastAPI</a:t>
            </a:r>
            <a:r>
              <a:rPr lang="en-US" sz="1800" dirty="0"/>
              <a:t>, and automation platforms like Ansible and </a:t>
            </a:r>
            <a:r>
              <a:rPr lang="en-US" sz="1800" dirty="0" err="1"/>
              <a:t>dbt</a:t>
            </a:r>
            <a:r>
              <a:rPr lang="en-US" sz="2400" dirty="0"/>
              <a:t>. </a:t>
            </a:r>
          </a:p>
          <a:p>
            <a:endParaRPr lang="en-US" sz="2400" dirty="0"/>
          </a:p>
          <a:p>
            <a:r>
              <a:rPr lang="en-US" sz="1800" dirty="0"/>
              <a:t>{{ ... }}: </a:t>
            </a:r>
            <a:r>
              <a:rPr lang="en-US" sz="1800" b="1" dirty="0"/>
              <a:t>Expressions</a:t>
            </a:r>
            <a:r>
              <a:rPr lang="en-US" sz="1800" dirty="0"/>
              <a:t> to print directly to the template output.</a:t>
            </a:r>
          </a:p>
          <a:p>
            <a:r>
              <a:rPr lang="en-US" sz="1800" dirty="0"/>
              <a:t>{% ... %}: </a:t>
            </a:r>
            <a:r>
              <a:rPr lang="en-US" sz="1800" b="1" dirty="0"/>
              <a:t>Statements</a:t>
            </a:r>
            <a:r>
              <a:rPr lang="en-US" sz="1800" dirty="0"/>
              <a:t> used for control logic like loops, macros, and conditions.</a:t>
            </a:r>
          </a:p>
          <a:p>
            <a:r>
              <a:rPr lang="en-US" sz="1800" dirty="0"/>
              <a:t>{# ... #}: </a:t>
            </a:r>
            <a:r>
              <a:rPr lang="en-US" sz="1800" b="1" dirty="0"/>
              <a:t>Comments</a:t>
            </a:r>
            <a:r>
              <a:rPr lang="en-US" sz="1800" dirty="0"/>
              <a:t> which are completely omitted from the final output</a:t>
            </a:r>
          </a:p>
          <a:p>
            <a:r>
              <a:rPr lang="en-US" sz="1800" dirty="0"/>
              <a:t># ...: </a:t>
            </a:r>
            <a:r>
              <a:rPr lang="en-US" sz="1800" b="1" dirty="0"/>
              <a:t>Line statements </a:t>
            </a:r>
            <a:r>
              <a:rPr lang="en-US" sz="1800" dirty="0"/>
              <a:t>used as an alternative syntax to improve readability</a:t>
            </a:r>
          </a:p>
        </p:txBody>
      </p:sp>
    </p:spTree>
    <p:extLst>
      <p:ext uri="{BB962C8B-B14F-4D97-AF65-F5344CB8AC3E}">
        <p14:creationId xmlns:p14="http://schemas.microsoft.com/office/powerpoint/2010/main" val="1969476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00482-3FE5-B16A-5B3E-2690F27C2696}"/>
              </a:ext>
            </a:extLst>
          </p:cNvPr>
          <p:cNvSpPr>
            <a:spLocks noGrp="1"/>
          </p:cNvSpPr>
          <p:nvPr>
            <p:ph type="title"/>
          </p:nvPr>
        </p:nvSpPr>
        <p:spPr/>
        <p:txBody>
          <a:bodyPr/>
          <a:lstStyle/>
          <a:p>
            <a:r>
              <a:rPr lang="en-US" dirty="0"/>
              <a:t>Python NAPALM library </a:t>
            </a:r>
          </a:p>
        </p:txBody>
      </p:sp>
      <p:sp>
        <p:nvSpPr>
          <p:cNvPr id="6" name="TextBox 5">
            <a:extLst>
              <a:ext uri="{FF2B5EF4-FFF2-40B4-BE49-F238E27FC236}">
                <a16:creationId xmlns:a16="http://schemas.microsoft.com/office/drawing/2014/main" id="{AAEC8C3B-3BD2-4945-0E11-DA5756D57CAE}"/>
              </a:ext>
            </a:extLst>
          </p:cNvPr>
          <p:cNvSpPr txBox="1"/>
          <p:nvPr/>
        </p:nvSpPr>
        <p:spPr>
          <a:xfrm>
            <a:off x="720213" y="1891032"/>
            <a:ext cx="9955161" cy="4847481"/>
          </a:xfrm>
          <a:prstGeom prst="rect">
            <a:avLst/>
          </a:prstGeom>
          <a:noFill/>
        </p:spPr>
        <p:txBody>
          <a:bodyPr wrap="square" rtlCol="0">
            <a:spAutoFit/>
          </a:bodyPr>
          <a:lstStyle/>
          <a:p>
            <a:pPr marL="342900" indent="-342900">
              <a:buFont typeface="Arial" panose="020B0604020202020204" pitchFamily="34" charset="0"/>
              <a:buChar char="•"/>
            </a:pPr>
            <a:r>
              <a:rPr lang="en-US" dirty="0"/>
              <a:t>NAPALM (Network Automation and Programmability Abstraction Layer with Multivendor support) is a Python library that implements a set of functions to interact with different network device Operating Systems using a unified API.</a:t>
            </a:r>
          </a:p>
          <a:p>
            <a:pPr marL="342900" indent="-342900">
              <a:buFont typeface="Arial" panose="020B0604020202020204" pitchFamily="34" charset="0"/>
              <a:buChar char="•"/>
            </a:pPr>
            <a:endParaRPr lang="en-US" sz="1900" dirty="0"/>
          </a:p>
          <a:p>
            <a:pPr marL="285750" indent="-285750">
              <a:buFont typeface="Arial" panose="020B0604020202020204" pitchFamily="34" charset="0"/>
              <a:buChar char="•"/>
            </a:pPr>
            <a:r>
              <a:rPr lang="en-US" dirty="0"/>
              <a:t>Arista EOS</a:t>
            </a:r>
          </a:p>
          <a:p>
            <a:pPr marL="285750" indent="-285750">
              <a:buFont typeface="Arial" panose="020B0604020202020204" pitchFamily="34" charset="0"/>
              <a:buChar char="•"/>
            </a:pPr>
            <a:r>
              <a:rPr lang="en-US" dirty="0"/>
              <a:t>Cisco IOS</a:t>
            </a:r>
          </a:p>
          <a:p>
            <a:pPr marL="285750" indent="-285750">
              <a:buFont typeface="Arial" panose="020B0604020202020204" pitchFamily="34" charset="0"/>
              <a:buChar char="•"/>
            </a:pPr>
            <a:r>
              <a:rPr lang="en-US" dirty="0"/>
              <a:t>Cisco IOS-XR</a:t>
            </a:r>
          </a:p>
          <a:p>
            <a:pPr marL="285750" indent="-285750">
              <a:buFont typeface="Arial" panose="020B0604020202020204" pitchFamily="34" charset="0"/>
              <a:buChar char="•"/>
            </a:pPr>
            <a:r>
              <a:rPr lang="en-US" dirty="0"/>
              <a:t>Cisco NX-OS</a:t>
            </a:r>
          </a:p>
          <a:p>
            <a:pPr marL="285750" indent="-285750">
              <a:buFont typeface="Arial" panose="020B0604020202020204" pitchFamily="34" charset="0"/>
              <a:buChar char="•"/>
            </a:pPr>
            <a:r>
              <a:rPr lang="en-US" dirty="0"/>
              <a:t>Fortinet </a:t>
            </a:r>
            <a:r>
              <a:rPr lang="en-US" dirty="0" err="1"/>
              <a:t>Fortios</a:t>
            </a:r>
            <a:endParaRPr lang="en-US" dirty="0"/>
          </a:p>
          <a:p>
            <a:pPr marL="285750" indent="-285750">
              <a:buFont typeface="Arial" panose="020B0604020202020204" pitchFamily="34" charset="0"/>
              <a:buChar char="•"/>
            </a:pPr>
            <a:r>
              <a:rPr lang="en-US" dirty="0"/>
              <a:t>IBM</a:t>
            </a:r>
          </a:p>
          <a:p>
            <a:pPr marL="285750" indent="-285750">
              <a:buFont typeface="Arial" panose="020B0604020202020204" pitchFamily="34" charset="0"/>
              <a:buChar char="•"/>
            </a:pPr>
            <a:r>
              <a:rPr lang="en-US" dirty="0"/>
              <a:t>Juniper </a:t>
            </a:r>
            <a:r>
              <a:rPr lang="en-US" dirty="0" err="1"/>
              <a:t>JunOS</a:t>
            </a:r>
            <a:endParaRPr lang="en-US" dirty="0"/>
          </a:p>
          <a:p>
            <a:pPr marL="285750" indent="-285750">
              <a:buFont typeface="Arial" panose="020B0604020202020204" pitchFamily="34" charset="0"/>
              <a:buChar char="•"/>
            </a:pPr>
            <a:r>
              <a:rPr lang="en-US" dirty="0" err="1"/>
              <a:t>Mikrotik</a:t>
            </a:r>
            <a:r>
              <a:rPr lang="en-US" dirty="0"/>
              <a:t> </a:t>
            </a:r>
            <a:r>
              <a:rPr lang="en-US" dirty="0" err="1"/>
              <a:t>RouterOS</a:t>
            </a:r>
            <a:endParaRPr lang="en-US" dirty="0"/>
          </a:p>
          <a:p>
            <a:pPr marL="285750" indent="-285750">
              <a:buFont typeface="Arial" panose="020B0604020202020204" pitchFamily="34" charset="0"/>
              <a:buChar char="•"/>
            </a:pPr>
            <a:r>
              <a:rPr lang="en-US" dirty="0"/>
              <a:t>Palo Alto NOS</a:t>
            </a:r>
          </a:p>
          <a:p>
            <a:pPr marL="285750" indent="-285750">
              <a:buFont typeface="Arial" panose="020B0604020202020204" pitchFamily="34" charset="0"/>
              <a:buChar char="•"/>
            </a:pPr>
            <a:r>
              <a:rPr lang="en-US" dirty="0"/>
              <a:t>Pluribus</a:t>
            </a:r>
          </a:p>
          <a:p>
            <a:pPr marL="285750" indent="-285750">
              <a:buFont typeface="Arial" panose="020B0604020202020204" pitchFamily="34" charset="0"/>
              <a:buChar char="•"/>
            </a:pPr>
            <a:r>
              <a:rPr lang="en-US" dirty="0" err="1"/>
              <a:t>Vyos</a:t>
            </a:r>
            <a:endParaRPr lang="en-US" dirty="0"/>
          </a:p>
          <a:p>
            <a:endParaRPr lang="en-US" sz="1900" dirty="0"/>
          </a:p>
          <a:p>
            <a:pPr marL="342900" indent="-342900">
              <a:buFont typeface="Arial" panose="020B0604020202020204" pitchFamily="34" charset="0"/>
              <a:buChar char="•"/>
            </a:pPr>
            <a:endParaRPr lang="en-US" sz="1900" dirty="0"/>
          </a:p>
        </p:txBody>
      </p:sp>
    </p:spTree>
    <p:extLst>
      <p:ext uri="{BB962C8B-B14F-4D97-AF65-F5344CB8AC3E}">
        <p14:creationId xmlns:p14="http://schemas.microsoft.com/office/powerpoint/2010/main" val="3340870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950E-C0A1-C9BF-2502-54EA9A095D09}"/>
              </a:ext>
            </a:extLst>
          </p:cNvPr>
          <p:cNvSpPr>
            <a:spLocks noGrp="1"/>
          </p:cNvSpPr>
          <p:nvPr>
            <p:ph type="title"/>
          </p:nvPr>
        </p:nvSpPr>
        <p:spPr/>
        <p:txBody>
          <a:bodyPr/>
          <a:lstStyle/>
          <a:p>
            <a:r>
              <a:rPr lang="en-US">
                <a:ea typeface="Calibri Light"/>
                <a:cs typeface="Calibri Light"/>
              </a:rPr>
              <a:t>Wrap Up</a:t>
            </a:r>
            <a:endParaRPr lang="en-US"/>
          </a:p>
        </p:txBody>
      </p:sp>
      <p:sp>
        <p:nvSpPr>
          <p:cNvPr id="3" name="Content Placeholder 2">
            <a:extLst>
              <a:ext uri="{FF2B5EF4-FFF2-40B4-BE49-F238E27FC236}">
                <a16:creationId xmlns:a16="http://schemas.microsoft.com/office/drawing/2014/main" id="{17A92360-20AC-B4B9-E6D4-F21EB8C73511}"/>
              </a:ext>
            </a:extLst>
          </p:cNvPr>
          <p:cNvSpPr>
            <a:spLocks noGrp="1"/>
          </p:cNvSpPr>
          <p:nvPr>
            <p:ph idx="1"/>
          </p:nvPr>
        </p:nvSpPr>
        <p:spPr/>
        <p:txBody>
          <a:bodyPr vert="horz" lIns="91440" tIns="45720" rIns="91440" bIns="45720" rtlCol="0" anchor="t">
            <a:normAutofit/>
          </a:bodyPr>
          <a:lstStyle/>
          <a:p>
            <a:r>
              <a:rPr lang="en-US" dirty="0">
                <a:ea typeface="Calibri"/>
                <a:cs typeface="Calibri"/>
              </a:rPr>
              <a:t>Python Automation for Network engineering </a:t>
            </a:r>
          </a:p>
          <a:p>
            <a:pPr marL="0" indent="0">
              <a:buNone/>
            </a:pPr>
            <a:endParaRPr lang="en-US" dirty="0">
              <a:ea typeface="Calibri"/>
              <a:cs typeface="Calibri"/>
            </a:endParaRPr>
          </a:p>
          <a:p>
            <a:r>
              <a:rPr lang="en-US" dirty="0">
                <a:ea typeface="Calibri"/>
                <a:cs typeface="Calibri"/>
              </a:rPr>
              <a:t>Python Network Libraries</a:t>
            </a:r>
          </a:p>
          <a:p>
            <a:endParaRPr lang="en-US" dirty="0">
              <a:ea typeface="Calibri"/>
              <a:cs typeface="Calibri"/>
            </a:endParaRPr>
          </a:p>
          <a:p>
            <a:r>
              <a:rPr lang="en-US" dirty="0">
                <a:ea typeface="Calibri"/>
                <a:cs typeface="Calibri"/>
              </a:rPr>
              <a:t>Python Modules</a:t>
            </a:r>
          </a:p>
          <a:p>
            <a:pPr marL="0" indent="0">
              <a:buNone/>
            </a:pPr>
            <a:endParaRPr lang="en-US" dirty="0">
              <a:ea typeface="Calibri"/>
              <a:cs typeface="Calibri"/>
            </a:endParaRPr>
          </a:p>
          <a:p>
            <a:r>
              <a:rPr lang="en-US" dirty="0">
                <a:ea typeface="Calibri"/>
                <a:cs typeface="Calibri"/>
              </a:rPr>
              <a:t> Python Lambda Functions</a:t>
            </a:r>
          </a:p>
        </p:txBody>
      </p:sp>
    </p:spTree>
    <p:extLst>
      <p:ext uri="{BB962C8B-B14F-4D97-AF65-F5344CB8AC3E}">
        <p14:creationId xmlns:p14="http://schemas.microsoft.com/office/powerpoint/2010/main" val="81615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3607</TotalTime>
  <Words>428</Words>
  <Application>Microsoft Office PowerPoint</Application>
  <PresentationFormat>Widescreen</PresentationFormat>
  <Paragraphs>53</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2013 - 2022 Theme</vt:lpstr>
      <vt:lpstr>Python Scripting with Network</vt:lpstr>
      <vt:lpstr>Agenda</vt:lpstr>
      <vt:lpstr>Python Network Controller API</vt:lpstr>
      <vt:lpstr>Working with Ansible</vt:lpstr>
      <vt:lpstr>Python V/s Ansible Automation</vt:lpstr>
      <vt:lpstr>Python JINJA library</vt:lpstr>
      <vt:lpstr>Python NAPALM library </vt:lpstr>
      <vt:lpstr>Wrap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Basak</dc:creator>
  <cp:lastModifiedBy>Anindita Basak</cp:lastModifiedBy>
  <cp:revision>56</cp:revision>
  <dcterms:created xsi:type="dcterms:W3CDTF">2026-04-11T17:33:10Z</dcterms:created>
  <dcterms:modified xsi:type="dcterms:W3CDTF">2026-06-05T04:21:34Z</dcterms:modified>
</cp:coreProperties>
</file>