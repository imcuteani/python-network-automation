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99" r:id="rId4"/>
    <p:sldId id="292" r:id="rId5"/>
    <p:sldId id="301" r:id="rId6"/>
    <p:sldId id="295" r:id="rId7"/>
    <p:sldId id="296" r:id="rId8"/>
    <p:sldId id="28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94" autoAdjust="0"/>
    <p:restoredTop sz="94061" autoAdjust="0"/>
  </p:normalViewPr>
  <p:slideViewPr>
    <p:cSldViewPr snapToGrid="0">
      <p:cViewPr varScale="1">
        <p:scale>
          <a:sx n="65" d="100"/>
          <a:sy n="65" d="100"/>
        </p:scale>
        <p:origin x="822" y="78"/>
      </p:cViewPr>
      <p:guideLst/>
    </p:cSldViewPr>
  </p:slideViewPr>
  <p:outlineViewPr>
    <p:cViewPr>
      <p:scale>
        <a:sx n="33" d="100"/>
        <a:sy n="33" d="100"/>
      </p:scale>
      <p:origin x="0" y="-165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6/8/2026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12</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dirty="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Network Automation with Python Files</a:t>
            </a:r>
          </a:p>
          <a:p>
            <a:r>
              <a:rPr lang="en-US" sz="2200" dirty="0">
                <a:ea typeface="Calibri" panose="020F0502020204030204"/>
                <a:cs typeface="Calibri" panose="020F0502020204030204"/>
              </a:rPr>
              <a:t>Essential File types for Network Automation</a:t>
            </a:r>
          </a:p>
          <a:p>
            <a:r>
              <a:rPr lang="en-US" sz="2200" dirty="0">
                <a:ea typeface="Calibri" panose="020F0502020204030204"/>
                <a:cs typeface="Calibri" panose="020F0502020204030204"/>
              </a:rPr>
              <a:t>Production Best Practices</a:t>
            </a:r>
          </a:p>
          <a:p>
            <a:r>
              <a:rPr lang="en-US" sz="2200" dirty="0">
                <a:ea typeface="Calibri" panose="020F0502020204030204"/>
                <a:cs typeface="Calibri" panose="020F0502020204030204"/>
              </a:rPr>
              <a:t>Log collection and parsing</a:t>
            </a:r>
          </a:p>
          <a:p>
            <a:r>
              <a:rPr lang="en-US" sz="2200" dirty="0">
                <a:ea typeface="Calibri" panose="020F0502020204030204"/>
                <a:cs typeface="Calibri" panose="020F0502020204030204"/>
              </a:rPr>
              <a:t>Report Generation</a:t>
            </a:r>
          </a:p>
          <a:p>
            <a:endParaRPr lang="en-US" sz="2200" dirty="0">
              <a:ea typeface="Calibri" panose="020F0502020204030204"/>
              <a:cs typeface="Calibri" panose="020F0502020204030204"/>
            </a:endParaRP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B20CD-8B35-627E-14E3-0380358A726C}"/>
              </a:ext>
            </a:extLst>
          </p:cNvPr>
          <p:cNvSpPr>
            <a:spLocks noGrp="1"/>
          </p:cNvSpPr>
          <p:nvPr>
            <p:ph type="title"/>
          </p:nvPr>
        </p:nvSpPr>
        <p:spPr/>
        <p:txBody>
          <a:bodyPr/>
          <a:lstStyle/>
          <a:p>
            <a:r>
              <a:rPr lang="en-US" dirty="0"/>
              <a:t>Network Automation with Python</a:t>
            </a:r>
          </a:p>
        </p:txBody>
      </p:sp>
      <p:sp>
        <p:nvSpPr>
          <p:cNvPr id="3" name="Content Placeholder 2">
            <a:extLst>
              <a:ext uri="{FF2B5EF4-FFF2-40B4-BE49-F238E27FC236}">
                <a16:creationId xmlns:a16="http://schemas.microsoft.com/office/drawing/2014/main" id="{B6BAE6CC-F0C3-145A-21D5-469E53F6C163}"/>
              </a:ext>
            </a:extLst>
          </p:cNvPr>
          <p:cNvSpPr>
            <a:spLocks noGrp="1"/>
          </p:cNvSpPr>
          <p:nvPr>
            <p:ph idx="1"/>
          </p:nvPr>
        </p:nvSpPr>
        <p:spPr/>
        <p:txBody>
          <a:bodyPr>
            <a:normAutofit/>
          </a:bodyPr>
          <a:lstStyle/>
          <a:p>
            <a:r>
              <a:rPr lang="en-US" sz="1900" dirty="0"/>
              <a:t>To build an automation workflow, you typically organize your project across four categories of files: </a:t>
            </a:r>
            <a:r>
              <a:rPr lang="en-US" sz="1900" b="1" dirty="0"/>
              <a:t>Scripts</a:t>
            </a:r>
            <a:r>
              <a:rPr lang="en-US" sz="1900" dirty="0"/>
              <a:t> to run logic, </a:t>
            </a:r>
            <a:r>
              <a:rPr lang="en-US" sz="1900" b="1" dirty="0"/>
              <a:t>Inventories</a:t>
            </a:r>
            <a:r>
              <a:rPr lang="en-US" sz="1900" dirty="0"/>
              <a:t> to map devices, </a:t>
            </a:r>
            <a:r>
              <a:rPr lang="en-US" sz="1900" b="1" dirty="0"/>
              <a:t>Templates</a:t>
            </a:r>
            <a:r>
              <a:rPr lang="en-US" sz="1900" dirty="0"/>
              <a:t> to generate standard configurations, and </a:t>
            </a:r>
            <a:r>
              <a:rPr lang="en-US" sz="1900" b="1" dirty="0"/>
              <a:t>Outputs</a:t>
            </a:r>
            <a:r>
              <a:rPr lang="en-US" sz="1900" dirty="0"/>
              <a:t> to store gathered metrics. </a:t>
            </a:r>
          </a:p>
          <a:p>
            <a:endParaRPr lang="en-US" sz="2000" dirty="0"/>
          </a:p>
          <a:p>
            <a:r>
              <a:rPr lang="en-US" sz="1900" b="1" dirty="0"/>
              <a:t>Opening the File</a:t>
            </a:r>
            <a:r>
              <a:rPr lang="en-US" sz="1900" dirty="0"/>
              <a:t>: Use the open() function to open a file. In this example, ‘show_version.txt’ is the file you want to read. If the file is in the same directory as your Python script, just provide the filename. The open function returns a file object, which we assign to the variable f.</a:t>
            </a:r>
          </a:p>
          <a:p>
            <a:r>
              <a:rPr lang="en-US" sz="1900" b="1" dirty="0"/>
              <a:t>Reading the File</a:t>
            </a:r>
            <a:r>
              <a:rPr lang="en-US" sz="1900" dirty="0"/>
              <a:t>: After opening the file, use the read() method to get its contents. Here, we read the entire file as a string and store it in the data variable.</a:t>
            </a:r>
          </a:p>
          <a:p>
            <a:r>
              <a:rPr lang="en-US" sz="1900" b="1" dirty="0"/>
              <a:t>Closing the File</a:t>
            </a:r>
            <a:r>
              <a:rPr lang="en-US" sz="1900" dirty="0"/>
              <a:t>: It’s important to close the file after reading it using the close() method. Not closing the file can cause resource leaks and other issues. Although Python can automatically close the file when the script ends, it’s best practice to close it explicitly.</a:t>
            </a:r>
          </a:p>
          <a:p>
            <a:endParaRPr lang="en-US" sz="2000" dirty="0"/>
          </a:p>
        </p:txBody>
      </p:sp>
    </p:spTree>
    <p:extLst>
      <p:ext uri="{BB962C8B-B14F-4D97-AF65-F5344CB8AC3E}">
        <p14:creationId xmlns:p14="http://schemas.microsoft.com/office/powerpoint/2010/main" val="115742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Essential File Types with Python</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b="1" dirty="0"/>
              <a:t>.</a:t>
            </a:r>
            <a:r>
              <a:rPr lang="en-US" b="1" dirty="0" err="1"/>
              <a:t>py</a:t>
            </a:r>
            <a:r>
              <a:rPr lang="en-US" b="1" dirty="0"/>
              <a:t> (Python Scripts):</a:t>
            </a:r>
            <a:r>
              <a:rPr lang="en-US" dirty="0"/>
              <a:t> </a:t>
            </a:r>
            <a:r>
              <a:rPr lang="en-US" sz="2000" dirty="0"/>
              <a:t>Houses the main execution logic, handling SSH connections, executing API requests, and managing errors. </a:t>
            </a:r>
          </a:p>
          <a:p>
            <a:r>
              <a:rPr lang="en-US" b="1" dirty="0"/>
              <a:t>.</a:t>
            </a:r>
            <a:r>
              <a:rPr lang="en-US" b="1" dirty="0" err="1"/>
              <a:t>yaml</a:t>
            </a:r>
            <a:r>
              <a:rPr lang="en-US" b="1" dirty="0"/>
              <a:t> or .</a:t>
            </a:r>
            <a:r>
              <a:rPr lang="en-US" b="1" dirty="0" err="1"/>
              <a:t>json</a:t>
            </a:r>
            <a:r>
              <a:rPr lang="en-US" b="1" dirty="0"/>
              <a:t> (Inventory Files):</a:t>
            </a:r>
            <a:r>
              <a:rPr lang="en-US" dirty="0"/>
              <a:t> </a:t>
            </a:r>
            <a:r>
              <a:rPr lang="en-US" sz="2000" dirty="0"/>
              <a:t>Stores structured infrastructure details such as host IP addresses, device operating systems, usernames, and connection ports. </a:t>
            </a:r>
          </a:p>
          <a:p>
            <a:r>
              <a:rPr lang="en-US" b="1" dirty="0"/>
              <a:t>.j2 (Jinja2 Templates):</a:t>
            </a:r>
            <a:r>
              <a:rPr lang="en-US" dirty="0"/>
              <a:t> </a:t>
            </a:r>
            <a:r>
              <a:rPr lang="en-US" sz="2000" dirty="0"/>
              <a:t>Skeleton configuration blueprints. Python maps variable data from your inventory into these files to generate raw configurations dynamically</a:t>
            </a:r>
            <a:r>
              <a:rPr lang="en-US" dirty="0"/>
              <a:t>.</a:t>
            </a:r>
            <a:r>
              <a:rPr lang="en-US" sz="2000" dirty="0"/>
              <a:t> </a:t>
            </a:r>
          </a:p>
          <a:p>
            <a:r>
              <a:rPr lang="en-US" b="1" dirty="0"/>
              <a:t>.csv or .txt (Output Files):</a:t>
            </a:r>
            <a:r>
              <a:rPr lang="en-US" sz="2000" dirty="0"/>
              <a:t> Captured diagnostic data, automated config backups, or inventory audits extracted from multiple live devices</a:t>
            </a:r>
          </a:p>
        </p:txBody>
      </p:sp>
    </p:spTree>
    <p:extLst>
      <p:ext uri="{BB962C8B-B14F-4D97-AF65-F5344CB8AC3E}">
        <p14:creationId xmlns:p14="http://schemas.microsoft.com/office/powerpoint/2010/main" val="242876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D6AC8-723B-3926-2296-F10BC356E987}"/>
              </a:ext>
            </a:extLst>
          </p:cNvPr>
          <p:cNvSpPr>
            <a:spLocks noGrp="1"/>
          </p:cNvSpPr>
          <p:nvPr>
            <p:ph type="title"/>
          </p:nvPr>
        </p:nvSpPr>
        <p:spPr/>
        <p:txBody>
          <a:bodyPr/>
          <a:lstStyle/>
          <a:p>
            <a:r>
              <a:rPr lang="en-US" dirty="0"/>
              <a:t>Network Automation Production Practices</a:t>
            </a:r>
          </a:p>
        </p:txBody>
      </p:sp>
      <p:sp>
        <p:nvSpPr>
          <p:cNvPr id="4" name="Content Placeholder 3">
            <a:extLst>
              <a:ext uri="{FF2B5EF4-FFF2-40B4-BE49-F238E27FC236}">
                <a16:creationId xmlns:a16="http://schemas.microsoft.com/office/drawing/2014/main" id="{3475C8D3-3429-EBE5-8522-C7053FEB0E50}"/>
              </a:ext>
            </a:extLst>
          </p:cNvPr>
          <p:cNvSpPr>
            <a:spLocks noGrp="1"/>
          </p:cNvSpPr>
          <p:nvPr>
            <p:ph idx="1"/>
          </p:nvPr>
        </p:nvSpPr>
        <p:spPr/>
        <p:txBody>
          <a:bodyPr/>
          <a:lstStyle/>
          <a:p>
            <a:r>
              <a:rPr lang="en-US" b="1" dirty="0"/>
              <a:t>Secure Credentials:</a:t>
            </a:r>
            <a:r>
              <a:rPr lang="en-US" dirty="0"/>
              <a:t> </a:t>
            </a:r>
            <a:r>
              <a:rPr lang="en-US" sz="2000" dirty="0"/>
              <a:t>Never hardcode passwords directly into scripts or raw text inventories. Use environment variables via </a:t>
            </a:r>
            <a:r>
              <a:rPr lang="en-US" sz="2000" dirty="0" err="1"/>
              <a:t>os.environ</a:t>
            </a:r>
            <a:r>
              <a:rPr lang="en-US" sz="2000" dirty="0"/>
              <a:t> or call secure vaults. </a:t>
            </a:r>
          </a:p>
          <a:p>
            <a:pPr marL="0" indent="0">
              <a:buNone/>
            </a:pPr>
            <a:endParaRPr lang="en-US" sz="2000" dirty="0"/>
          </a:p>
          <a:p>
            <a:r>
              <a:rPr lang="en-US" b="1" dirty="0"/>
              <a:t>Implement Safe Parsing:</a:t>
            </a:r>
            <a:r>
              <a:rPr lang="en-US" sz="2000" dirty="0"/>
              <a:t> Raw CLI terminal readouts can be messy. Utilize tools like </a:t>
            </a:r>
            <a:r>
              <a:rPr lang="en-US" dirty="0" err="1"/>
              <a:t>TextFSM</a:t>
            </a:r>
            <a:r>
              <a:rPr lang="en-US" sz="2000" dirty="0"/>
              <a:t> to structure plain-text terminal data directly into predictable Python dictionaries or lists. </a:t>
            </a:r>
          </a:p>
          <a:p>
            <a:endParaRPr lang="en-US" sz="2000" dirty="0"/>
          </a:p>
          <a:p>
            <a:r>
              <a:rPr lang="en-US" b="1" dirty="0"/>
              <a:t>Track File Changes:</a:t>
            </a:r>
            <a:r>
              <a:rPr lang="en-US" dirty="0"/>
              <a:t> </a:t>
            </a:r>
            <a:r>
              <a:rPr lang="en-US" sz="2000" dirty="0"/>
              <a:t>Always initialize a Git repository around your script, template, and inventory directories to track modifications, roll back errors, and safely collaborate. </a:t>
            </a:r>
          </a:p>
        </p:txBody>
      </p:sp>
    </p:spTree>
    <p:extLst>
      <p:ext uri="{BB962C8B-B14F-4D97-AF65-F5344CB8AC3E}">
        <p14:creationId xmlns:p14="http://schemas.microsoft.com/office/powerpoint/2010/main" val="4200769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12A29-C420-F6C7-43D0-DC774B32144E}"/>
              </a:ext>
            </a:extLst>
          </p:cNvPr>
          <p:cNvSpPr>
            <a:spLocks noGrp="1"/>
          </p:cNvSpPr>
          <p:nvPr>
            <p:ph type="title"/>
          </p:nvPr>
        </p:nvSpPr>
        <p:spPr/>
        <p:txBody>
          <a:bodyPr/>
          <a:lstStyle/>
          <a:p>
            <a:r>
              <a:rPr lang="en-US" dirty="0"/>
              <a:t>Python Log Collection and Parsing</a:t>
            </a:r>
          </a:p>
        </p:txBody>
      </p:sp>
      <p:sp>
        <p:nvSpPr>
          <p:cNvPr id="3" name="Content Placeholder 2">
            <a:extLst>
              <a:ext uri="{FF2B5EF4-FFF2-40B4-BE49-F238E27FC236}">
                <a16:creationId xmlns:a16="http://schemas.microsoft.com/office/drawing/2014/main" id="{2ED93877-5179-34CD-7DDD-34FABB0EB579}"/>
              </a:ext>
            </a:extLst>
          </p:cNvPr>
          <p:cNvSpPr>
            <a:spLocks noGrp="1"/>
          </p:cNvSpPr>
          <p:nvPr>
            <p:ph idx="1"/>
          </p:nvPr>
        </p:nvSpPr>
        <p:spPr/>
        <p:txBody>
          <a:bodyPr>
            <a:normAutofit/>
          </a:bodyPr>
          <a:lstStyle/>
          <a:p>
            <a:r>
              <a:rPr lang="en-US" sz="1800" dirty="0"/>
              <a:t>Python provides built-in modules and third-party libraries to handle the entire log collection and parsing pipeline efficiently. This guide covers how to generate/collect logs cleanly and how to extract structured data from unstructured text. </a:t>
            </a:r>
          </a:p>
          <a:p>
            <a:pPr marL="0" indent="0">
              <a:buNone/>
            </a:pPr>
            <a:endParaRPr lang="en-US" sz="2400" dirty="0"/>
          </a:p>
          <a:p>
            <a:r>
              <a:rPr lang="en-US" sz="1800" dirty="0"/>
              <a:t>When dealing with traditional, legacy plain-text log files (like Apache, Nginx, or syslog), you can choose your strategy based on complexity. </a:t>
            </a:r>
          </a:p>
          <a:p>
            <a:endParaRPr lang="en-US" sz="1800" dirty="0"/>
          </a:p>
          <a:p>
            <a:endParaRPr lang="en-US" sz="1800" dirty="0"/>
          </a:p>
          <a:p>
            <a:endParaRPr lang="en-US" sz="1800" dirty="0"/>
          </a:p>
        </p:txBody>
      </p:sp>
      <p:pic>
        <p:nvPicPr>
          <p:cNvPr id="5" name="Picture 4">
            <a:extLst>
              <a:ext uri="{FF2B5EF4-FFF2-40B4-BE49-F238E27FC236}">
                <a16:creationId xmlns:a16="http://schemas.microsoft.com/office/drawing/2014/main" id="{7534796E-CA47-184B-C56B-0C761F6F09D7}"/>
              </a:ext>
            </a:extLst>
          </p:cNvPr>
          <p:cNvPicPr>
            <a:picLocks noChangeAspect="1"/>
          </p:cNvPicPr>
          <p:nvPr/>
        </p:nvPicPr>
        <p:blipFill>
          <a:blip r:embed="rId2"/>
          <a:stretch>
            <a:fillRect/>
          </a:stretch>
        </p:blipFill>
        <p:spPr>
          <a:xfrm>
            <a:off x="5189742" y="4001294"/>
            <a:ext cx="4467225" cy="23241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69476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00482-3FE5-B16A-5B3E-2690F27C2696}"/>
              </a:ext>
            </a:extLst>
          </p:cNvPr>
          <p:cNvSpPr>
            <a:spLocks noGrp="1"/>
          </p:cNvSpPr>
          <p:nvPr>
            <p:ph type="title"/>
          </p:nvPr>
        </p:nvSpPr>
        <p:spPr/>
        <p:txBody>
          <a:bodyPr/>
          <a:lstStyle/>
          <a:p>
            <a:r>
              <a:rPr lang="en-US" dirty="0"/>
              <a:t>Report Generation</a:t>
            </a:r>
          </a:p>
        </p:txBody>
      </p:sp>
      <p:sp>
        <p:nvSpPr>
          <p:cNvPr id="6" name="TextBox 5">
            <a:extLst>
              <a:ext uri="{FF2B5EF4-FFF2-40B4-BE49-F238E27FC236}">
                <a16:creationId xmlns:a16="http://schemas.microsoft.com/office/drawing/2014/main" id="{AAEC8C3B-3BD2-4945-0E11-DA5756D57CAE}"/>
              </a:ext>
            </a:extLst>
          </p:cNvPr>
          <p:cNvSpPr txBox="1"/>
          <p:nvPr/>
        </p:nvSpPr>
        <p:spPr>
          <a:xfrm>
            <a:off x="720213" y="1891032"/>
            <a:ext cx="9955161" cy="3139321"/>
          </a:xfrm>
          <a:prstGeom prst="rect">
            <a:avLst/>
          </a:prstGeom>
          <a:noFill/>
        </p:spPr>
        <p:txBody>
          <a:bodyPr wrap="square" rtlCol="0">
            <a:spAutoFit/>
          </a:bodyPr>
          <a:lstStyle/>
          <a:p>
            <a:pPr marL="285750" indent="-285750">
              <a:buFont typeface="Arial" panose="020B0604020202020204" pitchFamily="34" charset="0"/>
              <a:buChar char="•"/>
            </a:pPr>
            <a:r>
              <a:rPr lang="en-US" dirty="0"/>
              <a:t>The best Python report generation library </a:t>
            </a:r>
            <a:r>
              <a:rPr lang="en-US" sz="2000" dirty="0"/>
              <a:t>depends entirely on your preferred </a:t>
            </a:r>
            <a:r>
              <a:rPr lang="en-US" b="1" dirty="0"/>
              <a:t>output format (PDF, HTML, or Excel)</a:t>
            </a:r>
            <a:r>
              <a:rPr lang="en-US" sz="2000" dirty="0"/>
              <a:t> and whether you want to </a:t>
            </a:r>
            <a:r>
              <a:rPr lang="en-US" b="1" dirty="0"/>
              <a:t>write code from scratch, use HTML templates, or auto-generate automated data analysis summaries</a:t>
            </a:r>
            <a:r>
              <a:rPr lang="en-US" sz="2000" dirty="0"/>
              <a: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 versatile tool specifically built to construct standalone, </a:t>
            </a:r>
            <a:r>
              <a:rPr lang="en-US" b="1" dirty="0"/>
              <a:t>shareable HTML reports containing interactive components</a:t>
            </a:r>
            <a:r>
              <a:rPr lang="en-US" sz="2000" dirty="0"/>
              <a:t>. It supports rich layout configurations, code snippet formatting, text callout blocks, and natively integrates with Plotly Express interactive charts.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1900" dirty="0"/>
              <a:t>python -m pip install </a:t>
            </a:r>
            <a:r>
              <a:rPr lang="en-US" sz="1900" dirty="0" err="1"/>
              <a:t>report_creator</a:t>
            </a:r>
            <a:r>
              <a:rPr lang="en-US" sz="1900" dirty="0"/>
              <a:t> -U</a:t>
            </a:r>
          </a:p>
          <a:p>
            <a:pPr marL="342900" indent="-342900">
              <a:buFont typeface="Arial" panose="020B0604020202020204" pitchFamily="34" charset="0"/>
              <a:buChar char="•"/>
            </a:pPr>
            <a:endParaRPr lang="en-US" sz="1900" dirty="0"/>
          </a:p>
        </p:txBody>
      </p:sp>
    </p:spTree>
    <p:extLst>
      <p:ext uri="{BB962C8B-B14F-4D97-AF65-F5344CB8AC3E}">
        <p14:creationId xmlns:p14="http://schemas.microsoft.com/office/powerpoint/2010/main" val="3340870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Network Libraries</a:t>
            </a:r>
          </a:p>
          <a:p>
            <a:endParaRPr lang="en-US" dirty="0">
              <a:ea typeface="Calibri"/>
              <a:cs typeface="Calibri"/>
            </a:endParaRPr>
          </a:p>
          <a:p>
            <a:r>
              <a:rPr lang="en-US" dirty="0">
                <a:ea typeface="Calibri"/>
                <a:cs typeface="Calibri"/>
              </a:rPr>
              <a:t>Python logging data parsing</a:t>
            </a:r>
          </a:p>
          <a:p>
            <a:pPr marL="0" indent="0">
              <a:buNone/>
            </a:pPr>
            <a:endParaRPr lang="en-US" dirty="0">
              <a:ea typeface="Calibri"/>
              <a:cs typeface="Calibri"/>
            </a:endParaRPr>
          </a:p>
          <a:p>
            <a:r>
              <a:rPr lang="en-US" dirty="0">
                <a:ea typeface="Calibri"/>
                <a:cs typeface="Calibri"/>
              </a:rPr>
              <a:t> Python Reporting</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3771</TotalTime>
  <Words>604</Words>
  <Application>Microsoft Office PowerPoint</Application>
  <PresentationFormat>Widescreen</PresentationFormat>
  <Paragraphs>44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2013 - 2022 Theme</vt:lpstr>
      <vt:lpstr>Python Scripting with Network</vt:lpstr>
      <vt:lpstr>Agenda</vt:lpstr>
      <vt:lpstr>Network Automation with Python</vt:lpstr>
      <vt:lpstr>Essential File Types with Python</vt:lpstr>
      <vt:lpstr>Network Automation Production Practices</vt:lpstr>
      <vt:lpstr>Python Log Collection and Parsing</vt:lpstr>
      <vt:lpstr>Report Generation</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62</cp:revision>
  <dcterms:created xsi:type="dcterms:W3CDTF">2026-04-11T17:33:10Z</dcterms:created>
  <dcterms:modified xsi:type="dcterms:W3CDTF">2026-06-08T05:03:08Z</dcterms:modified>
</cp:coreProperties>
</file>