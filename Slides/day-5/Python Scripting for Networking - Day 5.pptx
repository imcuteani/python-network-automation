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66" r:id="rId4"/>
    <p:sldId id="267" r:id="rId5"/>
    <p:sldId id="293" r:id="rId6"/>
    <p:sldId id="294" r:id="rId7"/>
    <p:sldId id="269" r:id="rId8"/>
    <p:sldId id="271" r:id="rId9"/>
    <p:sldId id="292" r:id="rId10"/>
    <p:sldId id="273" r:id="rId11"/>
    <p:sldId id="274" r:id="rId12"/>
    <p:sldId id="28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5/27/2026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imperva.com/learn/application-security/tcp-transmission-control-protocol/"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3" Type="http://schemas.openxmlformats.org/officeDocument/2006/relationships/hyperlink" Target="https://pypi.org/" TargetMode="External"/><Relationship Id="rId2" Type="http://schemas.openxmlformats.org/officeDocument/2006/relationships/hyperlink" Target="https://docs.python.org/3/library/index.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5</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Python for Network Automation</a:t>
            </a:r>
          </a:p>
          <a:p>
            <a:r>
              <a:rPr lang="en-US" sz="2200" dirty="0">
                <a:ea typeface="Calibri" panose="020F0502020204030204"/>
                <a:cs typeface="Calibri" panose="020F0502020204030204"/>
              </a:rPr>
              <a:t>ISO/OSI Layer</a:t>
            </a:r>
          </a:p>
          <a:p>
            <a:r>
              <a:rPr lang="en-US" sz="2200" dirty="0">
                <a:ea typeface="Calibri" panose="020F0502020204030204"/>
                <a:cs typeface="Calibri" panose="020F0502020204030204"/>
              </a:rPr>
              <a:t>OSI &amp; TCP/IP Mapping</a:t>
            </a:r>
          </a:p>
          <a:p>
            <a:r>
              <a:rPr lang="en-US" sz="2200" dirty="0">
                <a:ea typeface="Calibri" panose="020F0502020204030204"/>
                <a:cs typeface="Calibri" panose="020F0502020204030204"/>
              </a:rPr>
              <a:t>Python libraries for Networking</a:t>
            </a:r>
          </a:p>
          <a:p>
            <a:r>
              <a:rPr lang="en-US" sz="2200" dirty="0">
                <a:ea typeface="Calibri" panose="020F0502020204030204"/>
                <a:cs typeface="Calibri" panose="020F0502020204030204"/>
              </a:rPr>
              <a:t>Python Modules</a:t>
            </a:r>
          </a:p>
          <a:p>
            <a:r>
              <a:rPr lang="en-US" sz="2200" dirty="0">
                <a:ea typeface="Calibri" panose="020F0502020204030204"/>
                <a:cs typeface="Calibri" panose="020F0502020204030204"/>
              </a:rPr>
              <a:t>Python Type Errors </a:t>
            </a:r>
          </a:p>
          <a:p>
            <a:r>
              <a:rPr lang="en-US" sz="2200" dirty="0">
                <a:ea typeface="Calibri" panose="020F0502020204030204"/>
                <a:cs typeface="Calibri" panose="020F0502020204030204"/>
              </a:rPr>
              <a:t>Python Lambda Function</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876693" y="741391"/>
            <a:ext cx="7323410" cy="1616203"/>
          </a:xfrm>
        </p:spPr>
        <p:txBody>
          <a:bodyPr anchor="b">
            <a:normAutofit/>
          </a:bodyPr>
          <a:lstStyle/>
          <a:p>
            <a:r>
              <a:rPr lang="en-US" sz="3200" dirty="0"/>
              <a:t>Python for Network Automation </a:t>
            </a:r>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876693" y="2533476"/>
            <a:ext cx="9417681" cy="3447832"/>
          </a:xfrm>
        </p:spPr>
        <p:txBody>
          <a:bodyPr vert="horz" lIns="91440" tIns="45720" rIns="91440" bIns="45720" rtlCol="0" anchor="t">
            <a:normAutofit/>
          </a:bodyPr>
          <a:lstStyle/>
          <a:p>
            <a:r>
              <a:rPr lang="en-US" sz="1600" dirty="0"/>
              <a:t>Python has become the industry-standard language for network automation because it allows engineers to manage complex, multi-vendor infrastructures with code instead of manual command-line interface (CLI) entries. </a:t>
            </a:r>
          </a:p>
          <a:p>
            <a:endParaRPr lang="en-US" sz="1600" dirty="0"/>
          </a:p>
          <a:p>
            <a:r>
              <a:rPr lang="en-US" sz="1600" dirty="0"/>
              <a:t>It enables faster deployments, reduces human error, and facilitates "Infrastructure as Code" (</a:t>
            </a:r>
            <a:r>
              <a:rPr lang="en-US" sz="1600" dirty="0" err="1"/>
              <a:t>IaC</a:t>
            </a:r>
            <a:r>
              <a:rPr lang="en-US" sz="1600" dirty="0"/>
              <a:t>) initiatives</a:t>
            </a:r>
            <a:br>
              <a:rPr lang="en-US" sz="2000" dirty="0"/>
            </a:b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p:txBody>
      </p:sp>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0454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1137034" y="609597"/>
            <a:ext cx="9392421" cy="1330841"/>
          </a:xfrm>
        </p:spPr>
        <p:txBody>
          <a:bodyPr>
            <a:normAutofit/>
          </a:bodyPr>
          <a:lstStyle/>
          <a:p>
            <a:r>
              <a:rPr lang="en-US" dirty="0"/>
              <a:t>ISO/OSI Layers of Networking</a:t>
            </a:r>
            <a:br>
              <a:rPr lang="en-US" dirty="0"/>
            </a:br>
            <a:endParaRPr lang="en-US" dirty="0"/>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2000" dirty="0"/>
              <a:t>The Open Systems Interconnection (OSI) model describes seven layers that computer systems use to communicate over a network. </a:t>
            </a:r>
          </a:p>
          <a:p>
            <a:r>
              <a:rPr lang="en-US" sz="2000" dirty="0"/>
              <a:t>The OSI model is divided into seven distinct layers, each with specific responsibilities, ranging from physical hardware connections to high-level application interactions. </a:t>
            </a:r>
          </a:p>
          <a:p>
            <a:endParaRPr lang="en-US" sz="2000" dirty="0">
              <a:ea typeface="Calibri"/>
              <a:cs typeface="Calibri"/>
            </a:endParaRPr>
          </a:p>
          <a:p>
            <a:endParaRPr lang="en-US" sz="2000" dirty="0">
              <a:ea typeface="Calibri"/>
              <a:cs typeface="Calibri"/>
            </a:endParaRPr>
          </a:p>
        </p:txBody>
      </p:sp>
      <p:pic>
        <p:nvPicPr>
          <p:cNvPr id="5" name="Picture 4">
            <a:extLst>
              <a:ext uri="{FF2B5EF4-FFF2-40B4-BE49-F238E27FC236}">
                <a16:creationId xmlns:a16="http://schemas.microsoft.com/office/drawing/2014/main" id="{7617B3FD-6AE8-7A54-6261-F0D25C7720FA}"/>
              </a:ext>
            </a:extLst>
          </p:cNvPr>
          <p:cNvPicPr>
            <a:picLocks noChangeAspect="1"/>
          </p:cNvPicPr>
          <p:nvPr/>
        </p:nvPicPr>
        <p:blipFill>
          <a:blip r:embed="rId2"/>
          <a:stretch>
            <a:fillRect/>
          </a:stretch>
        </p:blipFill>
        <p:spPr>
          <a:xfrm>
            <a:off x="6758814" y="2184914"/>
            <a:ext cx="4709611" cy="3755915"/>
          </a:xfrm>
          <a:prstGeom prst="rect">
            <a:avLst/>
          </a:prstGeom>
        </p:spPr>
      </p:pic>
      <p:sp>
        <p:nvSpPr>
          <p:cNvPr id="20" name="Freeform: Shape 1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62354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FEE7C-5BB8-6D04-74DD-923877D8E618}"/>
              </a:ext>
            </a:extLst>
          </p:cNvPr>
          <p:cNvSpPr>
            <a:spLocks noGrp="1"/>
          </p:cNvSpPr>
          <p:nvPr>
            <p:ph type="title"/>
          </p:nvPr>
        </p:nvSpPr>
        <p:spPr/>
        <p:txBody>
          <a:bodyPr/>
          <a:lstStyle/>
          <a:p>
            <a:r>
              <a:rPr lang="en-US" dirty="0"/>
              <a:t>OSI Layer – Real World Example</a:t>
            </a:r>
          </a:p>
        </p:txBody>
      </p:sp>
      <p:sp>
        <p:nvSpPr>
          <p:cNvPr id="3" name="Content Placeholder 2">
            <a:extLst>
              <a:ext uri="{FF2B5EF4-FFF2-40B4-BE49-F238E27FC236}">
                <a16:creationId xmlns:a16="http://schemas.microsoft.com/office/drawing/2014/main" id="{8E4D269E-6D26-627D-F622-C56146E2E0C4}"/>
              </a:ext>
            </a:extLst>
          </p:cNvPr>
          <p:cNvSpPr>
            <a:spLocks noGrp="1"/>
          </p:cNvSpPr>
          <p:nvPr>
            <p:ph idx="1"/>
          </p:nvPr>
        </p:nvSpPr>
        <p:spPr/>
        <p:txBody>
          <a:bodyPr>
            <a:normAutofit fontScale="62500" lnSpcReduction="20000"/>
          </a:bodyPr>
          <a:lstStyle/>
          <a:p>
            <a:r>
              <a:rPr lang="en-US" dirty="0"/>
              <a:t>When a user in New York sends an email to a colleague in London, the process starts at the Application Layer (Layer 7). The user’s email client, such as Outlook, uses SMTP (Simple Mail Transfer Protocol) to handle the email message.</a:t>
            </a:r>
          </a:p>
          <a:p>
            <a:r>
              <a:rPr lang="en-US" dirty="0"/>
              <a:t>The email is then passed to the Presentation Layer (Layer 6), where it is formatted and encrypted to ensure proper transmission.</a:t>
            </a:r>
          </a:p>
          <a:p>
            <a:r>
              <a:rPr lang="en-US" dirty="0"/>
              <a:t>Next, the email moves to the Session Layer (Layer 5), where a session is established between the sender’s email server in New York and the receiver’s email server in London. This layer manages the session, keeping the connection open long enough to send the email.</a:t>
            </a:r>
          </a:p>
          <a:p>
            <a:r>
              <a:rPr lang="en-US" dirty="0"/>
              <a:t>The email data then reaches the Transport Layer (Layer 4), where it is divided into smaller packets. TCP ensures these packets are sent reliably and in the correct order.</a:t>
            </a:r>
          </a:p>
          <a:p>
            <a:r>
              <a:rPr lang="en-US" dirty="0"/>
              <a:t>At the Network Layer (Layer 3), each packet is assigned source and destination IP addresses, allowing it to be routed through multiple networks, including routers and switches, to reach the recipient in London.</a:t>
            </a:r>
          </a:p>
          <a:p>
            <a:r>
              <a:rPr lang="en-US" dirty="0"/>
              <a:t>The Data Link Layer (Layer 2) then uses MAC addresses to handle the packets’ journey across local networks and correcting any errors that occur.</a:t>
            </a:r>
          </a:p>
          <a:p>
            <a:r>
              <a:rPr lang="en-US" dirty="0"/>
              <a:t>Finally, the Physical Layer (Layer 1) converts the data into electrical signals, which are transmitted over fiber-optic cables under the Atlantic Ocean.</a:t>
            </a:r>
          </a:p>
          <a:p>
            <a:pPr marL="0" indent="0">
              <a:buNone/>
            </a:pPr>
            <a:endParaRPr lang="en-US" dirty="0"/>
          </a:p>
        </p:txBody>
      </p:sp>
    </p:spTree>
    <p:extLst>
      <p:ext uri="{BB962C8B-B14F-4D97-AF65-F5344CB8AC3E}">
        <p14:creationId xmlns:p14="http://schemas.microsoft.com/office/powerpoint/2010/main" val="3569910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60BF8-7C52-B333-B473-06CA55CA3213}"/>
              </a:ext>
            </a:extLst>
          </p:cNvPr>
          <p:cNvSpPr>
            <a:spLocks noGrp="1"/>
          </p:cNvSpPr>
          <p:nvPr>
            <p:ph type="title"/>
          </p:nvPr>
        </p:nvSpPr>
        <p:spPr/>
        <p:txBody>
          <a:bodyPr/>
          <a:lstStyle/>
          <a:p>
            <a:r>
              <a:rPr lang="en-US" dirty="0"/>
              <a:t>OSI Layer - Advantages</a:t>
            </a:r>
          </a:p>
        </p:txBody>
      </p:sp>
      <p:sp>
        <p:nvSpPr>
          <p:cNvPr id="3" name="Content Placeholder 2">
            <a:extLst>
              <a:ext uri="{FF2B5EF4-FFF2-40B4-BE49-F238E27FC236}">
                <a16:creationId xmlns:a16="http://schemas.microsoft.com/office/drawing/2014/main" id="{5E975539-74C2-B131-11F9-10595E10AD27}"/>
              </a:ext>
            </a:extLst>
          </p:cNvPr>
          <p:cNvSpPr>
            <a:spLocks noGrp="1"/>
          </p:cNvSpPr>
          <p:nvPr>
            <p:ph idx="1"/>
          </p:nvPr>
        </p:nvSpPr>
        <p:spPr/>
        <p:txBody>
          <a:bodyPr>
            <a:normAutofit/>
          </a:bodyPr>
          <a:lstStyle/>
          <a:p>
            <a:r>
              <a:rPr lang="en-US" sz="1600" dirty="0"/>
              <a:t>The Physical Layer converts the signals back into data packets, which are reassembled at the Data Link Layer.</a:t>
            </a:r>
          </a:p>
          <a:p>
            <a:r>
              <a:rPr lang="en-US" sz="1600" dirty="0"/>
              <a:t>The Network Layer ensures the packets have arrived correctly, and the Transport Layer reorders them if necessary.</a:t>
            </a:r>
          </a:p>
          <a:p>
            <a:r>
              <a:rPr lang="en-US" sz="1600" dirty="0"/>
              <a:t>The Session Layer maintains the session until the email is fully received.</a:t>
            </a:r>
          </a:p>
          <a:p>
            <a:r>
              <a:rPr lang="en-US" sz="1600" dirty="0"/>
              <a:t>The Presentation Layer decrypts and formats the email, and the Application Layer delivers the email to the client, where it appears in their inbox.</a:t>
            </a:r>
          </a:p>
          <a:p>
            <a:endParaRPr lang="en-US" sz="1600" dirty="0"/>
          </a:p>
          <a:p>
            <a:r>
              <a:rPr lang="en-US" sz="1600" dirty="0"/>
              <a:t>Determine the required hardware and software to build their network.</a:t>
            </a:r>
          </a:p>
          <a:p>
            <a:r>
              <a:rPr lang="en-US" sz="1600" dirty="0"/>
              <a:t>Understand and communicate the process followed by components communicating across a network.</a:t>
            </a:r>
          </a:p>
          <a:p>
            <a:r>
              <a:rPr lang="en-US" sz="1600" dirty="0"/>
              <a:t>Perform troubleshooting, by identifying which network layer is causing an issue and focusing efforts on that layer.</a:t>
            </a:r>
          </a:p>
          <a:p>
            <a:endParaRPr lang="en-US" sz="1600" dirty="0"/>
          </a:p>
          <a:p>
            <a:endParaRPr lang="en-US" dirty="0"/>
          </a:p>
        </p:txBody>
      </p:sp>
    </p:spTree>
    <p:extLst>
      <p:ext uri="{BB962C8B-B14F-4D97-AF65-F5344CB8AC3E}">
        <p14:creationId xmlns:p14="http://schemas.microsoft.com/office/powerpoint/2010/main" val="2856633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OSI Layer v/s TCP/IP Model</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3" y="1421985"/>
            <a:ext cx="9417895" cy="4794791"/>
          </a:xfrm>
        </p:spPr>
        <p:txBody>
          <a:bodyPr vert="horz" lIns="91440" tIns="45720" rIns="91440" bIns="45720" rtlCol="0" anchor="t">
            <a:noAutofit/>
          </a:bodyPr>
          <a:lstStyle/>
          <a:p>
            <a:endParaRPr lang="en-US" sz="1200" dirty="0">
              <a:solidFill>
                <a:srgbClr val="161616"/>
              </a:solidFill>
              <a:highlight>
                <a:srgbClr val="FFFFFF"/>
              </a:highlight>
              <a:latin typeface="Segoe UI"/>
              <a:ea typeface="Calibri"/>
              <a:cs typeface="Segoe UI"/>
            </a:endParaRPr>
          </a:p>
          <a:p>
            <a:endParaRPr lang="en-US" sz="800" dirty="0">
              <a:highlight>
                <a:srgbClr val="1F1F1F"/>
              </a:highlight>
              <a:latin typeface="Segoe UI"/>
              <a:ea typeface="Calibri"/>
              <a:cs typeface="Segoe UI"/>
            </a:endParaRPr>
          </a:p>
        </p:txBody>
      </p:sp>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BC66AC2C-34EB-6905-B107-DE526746ED74}"/>
              </a:ext>
            </a:extLst>
          </p:cNvPr>
          <p:cNvPicPr>
            <a:picLocks noChangeAspect="1"/>
          </p:cNvPicPr>
          <p:nvPr/>
        </p:nvPicPr>
        <p:blipFill>
          <a:blip r:embed="rId2"/>
          <a:stretch>
            <a:fillRect/>
          </a:stretch>
        </p:blipFill>
        <p:spPr>
          <a:xfrm>
            <a:off x="1321363" y="2202312"/>
            <a:ext cx="5419725" cy="3486150"/>
          </a:xfrm>
          <a:prstGeom prst="rect">
            <a:avLst/>
          </a:prstGeom>
        </p:spPr>
      </p:pic>
      <p:sp>
        <p:nvSpPr>
          <p:cNvPr id="7" name="TextBox 6">
            <a:extLst>
              <a:ext uri="{FF2B5EF4-FFF2-40B4-BE49-F238E27FC236}">
                <a16:creationId xmlns:a16="http://schemas.microsoft.com/office/drawing/2014/main" id="{D0821C12-AADA-3CD6-A9AF-EF8E5771CEC8}"/>
              </a:ext>
            </a:extLst>
          </p:cNvPr>
          <p:cNvSpPr txBox="1"/>
          <p:nvPr/>
        </p:nvSpPr>
        <p:spPr>
          <a:xfrm>
            <a:off x="7285703" y="2061836"/>
            <a:ext cx="4291781"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The </a:t>
            </a:r>
            <a:r>
              <a:rPr lang="en-US" dirty="0">
                <a:hlinkClick r:id="rId3"/>
              </a:rPr>
              <a:t>Transfer Control Protocol/Internet Protocol</a:t>
            </a:r>
            <a:r>
              <a:rPr lang="en-US" dirty="0"/>
              <a:t> (TCP/IP) is older than the OSI model and was created by the US Department of Defense (DoD). A key difference between the models is that TCP/IP is simpler, collapsing several OSI layers into one:</a:t>
            </a:r>
          </a:p>
          <a:p>
            <a:pPr marL="285750" indent="-285750">
              <a:buFont typeface="Arial" panose="020B0604020202020204" pitchFamily="34" charset="0"/>
              <a:buChar char="•"/>
            </a:pPr>
            <a:r>
              <a:rPr lang="en-US" dirty="0"/>
              <a:t>OSI layers 5, 6, 7 are combined into one Application Layer in TCP/IP</a:t>
            </a:r>
          </a:p>
          <a:p>
            <a:pPr marL="285750" indent="-285750">
              <a:buFont typeface="Arial" panose="020B0604020202020204" pitchFamily="34" charset="0"/>
              <a:buChar char="•"/>
            </a:pPr>
            <a:r>
              <a:rPr lang="en-US" dirty="0"/>
              <a:t>OSI layers 1, 2 are combined into one Network Access Layer in TCP/IP – however TCP/IP does not take responsibility for sequencing and acknowledgement functions, leaving these to the underlying transport layer.</a:t>
            </a:r>
          </a:p>
          <a:p>
            <a:endParaRPr lang="en-US" dirty="0"/>
          </a:p>
        </p:txBody>
      </p:sp>
    </p:spTree>
    <p:extLst>
      <p:ext uri="{BB962C8B-B14F-4D97-AF65-F5344CB8AC3E}">
        <p14:creationId xmlns:p14="http://schemas.microsoft.com/office/powerpoint/2010/main" val="606416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793662" y="386930"/>
            <a:ext cx="10066122" cy="1298448"/>
          </a:xfrm>
        </p:spPr>
        <p:txBody>
          <a:bodyPr anchor="b">
            <a:normAutofit/>
          </a:bodyPr>
          <a:lstStyle/>
          <a:p>
            <a:r>
              <a:rPr lang="en-US" sz="4800" dirty="0"/>
              <a:t>Python Libraries for Networking </a:t>
            </a:r>
          </a:p>
        </p:txBody>
      </p:sp>
      <p:sp>
        <p:nvSpPr>
          <p:cNvPr id="7" name="Rectangle 1">
            <a:extLst>
              <a:ext uri="{FF2B5EF4-FFF2-40B4-BE49-F238E27FC236}">
                <a16:creationId xmlns:a16="http://schemas.microsoft.com/office/drawing/2014/main" id="{340B2CE4-B5CC-6B8A-D3D5-419D2DA6B196}"/>
              </a:ext>
            </a:extLst>
          </p:cNvPr>
          <p:cNvSpPr>
            <a:spLocks noGrp="1" noChangeArrowheads="1"/>
          </p:cNvSpPr>
          <p:nvPr>
            <p:ph idx="1"/>
          </p:nvPr>
        </p:nvSpPr>
        <p:spPr bwMode="auto">
          <a:xfrm>
            <a:off x="341205" y="1920934"/>
            <a:ext cx="11509589"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rPr>
              <a:t>Netmiko</a:t>
            </a:r>
            <a:r>
              <a:rPr kumimoji="0" lang="en-US" altLang="en-US" sz="1600" b="0" i="0" u="none" strike="noStrike" cap="none" normalizeH="0" baseline="0" dirty="0">
                <a:ln>
                  <a:noFill/>
                </a:ln>
                <a:solidFill>
                  <a:schemeClr val="tx1"/>
                </a:solidFill>
                <a:effectLst/>
              </a:rPr>
              <a:t>: A multi-vendor library based on </a:t>
            </a:r>
            <a:r>
              <a:rPr kumimoji="0" lang="en-US" altLang="en-US" sz="1600" b="0" i="0" u="none" strike="noStrike" cap="none" normalizeH="0" baseline="0" dirty="0" err="1">
                <a:ln>
                  <a:noFill/>
                </a:ln>
                <a:solidFill>
                  <a:schemeClr val="tx1"/>
                </a:solidFill>
                <a:effectLst/>
              </a:rPr>
              <a:t>Paramiko</a:t>
            </a:r>
            <a:r>
              <a:rPr kumimoji="0" lang="en-US" altLang="en-US" sz="1600" b="0" i="0" u="none" strike="noStrike" cap="none" normalizeH="0" baseline="0" dirty="0">
                <a:ln>
                  <a:noFill/>
                </a:ln>
                <a:solidFill>
                  <a:schemeClr val="tx1"/>
                </a:solidFill>
                <a:effectLst/>
              </a:rPr>
              <a:t> that simplifies SSH connections to network devices like Cisco, Juniper, and Arista.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NAPALM</a:t>
            </a:r>
            <a:r>
              <a:rPr kumimoji="0" lang="en-US" altLang="en-US" sz="1600" b="0" i="0" u="none" strike="noStrike" cap="none" normalizeH="0" baseline="0" dirty="0">
                <a:ln>
                  <a:noFill/>
                </a:ln>
                <a:solidFill>
                  <a:schemeClr val="tx1"/>
                </a:solidFill>
                <a:effectLst/>
              </a:rPr>
              <a:t>: A vendor-agnostic abstraction layer that provides a unified API for managing diverse network environments.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rPr>
              <a:t>Nornir</a:t>
            </a:r>
            <a:r>
              <a:rPr kumimoji="0" lang="en-US" altLang="en-US" sz="1600" b="0" i="0" u="none" strike="noStrike" cap="none" normalizeH="0" baseline="0" dirty="0">
                <a:ln>
                  <a:noFill/>
                </a:ln>
                <a:solidFill>
                  <a:schemeClr val="tx1"/>
                </a:solidFill>
                <a:effectLst/>
              </a:rPr>
              <a:t>: A pluggable multi-threaded framework written in Python that allows you to manage network device inventory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and execute tasks at scale.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rPr>
              <a:t>ncclient</a:t>
            </a:r>
            <a:r>
              <a:rPr kumimoji="0" lang="en-US" altLang="en-US" sz="1600" b="0" i="0" u="none" strike="noStrike" cap="none" normalizeH="0" baseline="0" dirty="0">
                <a:ln>
                  <a:noFill/>
                </a:ln>
                <a:solidFill>
                  <a:schemeClr val="tx1"/>
                </a:solidFill>
                <a:effectLst/>
              </a:rPr>
              <a:t>: A Python library specifically for automating devices using the </a:t>
            </a:r>
            <a:r>
              <a:rPr kumimoji="0" lang="en-US" altLang="en-US" sz="1600" b="1" i="0" u="none" strike="noStrike" cap="none" normalizeH="0" baseline="0" dirty="0">
                <a:ln>
                  <a:noFill/>
                </a:ln>
                <a:solidFill>
                  <a:schemeClr val="tx1"/>
                </a:solidFill>
                <a:effectLst/>
              </a:rPr>
              <a:t>NETCONF</a:t>
            </a:r>
            <a:r>
              <a:rPr kumimoji="0" lang="en-US" altLang="en-US" sz="1600" b="0" i="0" u="none" strike="noStrike" cap="none" normalizeH="0" baseline="0" dirty="0">
                <a:ln>
                  <a:noFill/>
                </a:ln>
                <a:solidFill>
                  <a:schemeClr val="tx1"/>
                </a:solidFill>
                <a:effectLst/>
              </a:rPr>
              <a:t> protocol.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Jinja2</a:t>
            </a:r>
            <a:r>
              <a:rPr kumimoji="0" lang="en-US" altLang="en-US" sz="1600" b="0" i="0" u="none" strike="noStrike" cap="none" normalizeH="0" baseline="0" dirty="0">
                <a:ln>
                  <a:noFill/>
                </a:ln>
                <a:solidFill>
                  <a:schemeClr val="tx1"/>
                </a:solidFill>
                <a:effectLst/>
              </a:rPr>
              <a:t>: A templating engine used to generate configuration files dynamically based on device variables.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rPr>
              <a:t>TextFSM</a:t>
            </a:r>
            <a:r>
              <a:rPr kumimoji="0" lang="en-US" altLang="en-US" sz="1600" b="1" i="0" u="none" strike="noStrike" cap="none" normalizeH="0" baseline="0" dirty="0">
                <a:ln>
                  <a:noFill/>
                </a:ln>
                <a:solidFill>
                  <a:schemeClr val="tx1"/>
                </a:solidFill>
                <a:effectLst/>
              </a:rPr>
              <a:t>/TTP</a:t>
            </a:r>
            <a:r>
              <a:rPr kumimoji="0" lang="en-US" altLang="en-US" sz="1600" b="0" i="0" u="none" strike="noStrike" cap="none" normalizeH="0" baseline="0" dirty="0">
                <a:ln>
                  <a:noFill/>
                </a:ln>
                <a:solidFill>
                  <a:schemeClr val="tx1"/>
                </a:solidFill>
                <a:effectLst/>
              </a:rPr>
              <a:t>: Tools used to parse unstructured CLI output into structured data formats like JSON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p>
          <a:p>
            <a:pPr marL="0" lvl="0"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rPr>
              <a:t>Ansible</a:t>
            </a:r>
            <a:r>
              <a:rPr kumimoji="0" lang="en-US" altLang="en-US" sz="1600" b="0" i="0" u="none" strike="noStrike" cap="none" normalizeH="0" baseline="0" dirty="0">
                <a:ln>
                  <a:noFill/>
                </a:ln>
                <a:solidFill>
                  <a:schemeClr val="tx1"/>
                </a:solidFill>
                <a:effectLst/>
              </a:rPr>
              <a:t> - </a:t>
            </a:r>
            <a:r>
              <a:rPr lang="en-US" sz="1600" dirty="0"/>
              <a:t>Ansible is an open-source, agentless orchestration framework used to configure, provision, and manage network devices </a:t>
            </a:r>
          </a:p>
          <a:p>
            <a:pPr marL="0" lvl="0" indent="0" eaLnBrk="0" fontAlgn="base" hangingPunct="0">
              <a:lnSpc>
                <a:spcPct val="100000"/>
              </a:lnSpc>
              <a:spcBef>
                <a:spcPct val="0"/>
              </a:spcBef>
              <a:spcAft>
                <a:spcPct val="0"/>
              </a:spcAft>
              <a:buNone/>
            </a:pPr>
            <a:r>
              <a:rPr lang="en-US" sz="1600" dirty="0"/>
              <a:t>such as routers, switches, and firewalls at scale. For network engineers,</a:t>
            </a:r>
          </a:p>
          <a:p>
            <a:pPr marL="0" lvl="0" indent="0" eaLnBrk="0" fontAlgn="base" hangingPunct="0">
              <a:lnSpc>
                <a:spcPct val="100000"/>
              </a:lnSpc>
              <a:spcBef>
                <a:spcPct val="0"/>
              </a:spcBef>
              <a:spcAft>
                <a:spcPct val="0"/>
              </a:spcAft>
              <a:buNone/>
            </a:pPr>
            <a:r>
              <a:rPr lang="en-US" sz="1600" dirty="0"/>
              <a:t>it serves as a highly accessible entry point into infrastructure-as-code because it uses simple, human-readable</a:t>
            </a:r>
          </a:p>
          <a:p>
            <a:pPr marL="0" lvl="0" indent="0" eaLnBrk="0" fontAlgn="base" hangingPunct="0">
              <a:lnSpc>
                <a:spcPct val="100000"/>
              </a:lnSpc>
              <a:spcBef>
                <a:spcPct val="0"/>
              </a:spcBef>
              <a:spcAft>
                <a:spcPct val="0"/>
              </a:spcAft>
              <a:buNone/>
            </a:pPr>
            <a:r>
              <a:rPr lang="en-US" sz="1600" dirty="0"/>
              <a:t> YAML syntax rather than complex programming languages</a:t>
            </a:r>
            <a:endParaRPr lang="en-US" altLang="en-US" sz="1600" dirty="0"/>
          </a:p>
        </p:txBody>
      </p:sp>
    </p:spTree>
    <p:extLst>
      <p:ext uri="{BB962C8B-B14F-4D97-AF65-F5344CB8AC3E}">
        <p14:creationId xmlns:p14="http://schemas.microsoft.com/office/powerpoint/2010/main" val="1049164664"/>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Python Modules</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1600" dirty="0"/>
              <a:t>In Python, a module is simply a file with a .</a:t>
            </a:r>
            <a:r>
              <a:rPr lang="en-US" sz="1600" dirty="0" err="1"/>
              <a:t>py</a:t>
            </a:r>
            <a:r>
              <a:rPr lang="en-US" sz="1600" dirty="0"/>
              <a:t> extension that contains code—like functions, variables, and classes—that you can use in other programs. Using modules helps you organize large projects into smaller, reusable pieces. </a:t>
            </a:r>
          </a:p>
          <a:p>
            <a:endParaRPr lang="en-US" sz="1600" dirty="0"/>
          </a:p>
          <a:p>
            <a:r>
              <a:rPr lang="en-US" sz="1600" dirty="0"/>
              <a:t>Modules are three types – Built-in modules, External Modules and user- defined modules. </a:t>
            </a:r>
          </a:p>
          <a:p>
            <a:endParaRPr lang="en-US" sz="1600" dirty="0"/>
          </a:p>
          <a:p>
            <a:r>
              <a:rPr lang="en-US" sz="1600" b="1" u="sng" dirty="0"/>
              <a:t>Built-in Modules</a:t>
            </a:r>
            <a:r>
              <a:rPr lang="en-US" sz="1600" dirty="0"/>
              <a:t>: These come pre-installed with the </a:t>
            </a:r>
            <a:r>
              <a:rPr lang="en-US" sz="1600" dirty="0">
                <a:hlinkClick r:id="rId2">
                  <a:extLst>
                    <a:ext uri="{A12FA001-AC4F-418D-AE19-62706E023703}">
                      <ahyp:hlinkClr xmlns:ahyp="http://schemas.microsoft.com/office/drawing/2018/hyperlinkcolor" val="tx"/>
                    </a:ext>
                  </a:extLst>
                </a:hlinkClick>
              </a:rPr>
              <a:t>Python Standard Library</a:t>
            </a:r>
            <a:r>
              <a:rPr lang="en-US" sz="1600" dirty="0"/>
              <a:t>. Examples include math for calculations, random for generating numbers, and datetime for handling dates.</a:t>
            </a:r>
          </a:p>
          <a:p>
            <a:endParaRPr lang="en-US" sz="1600" dirty="0"/>
          </a:p>
          <a:p>
            <a:r>
              <a:rPr lang="en-US" sz="1600" b="1" u="sng" dirty="0"/>
              <a:t>External (Third-Party) Modules</a:t>
            </a:r>
            <a:r>
              <a:rPr lang="en-US" sz="1600" dirty="0"/>
              <a:t>: These are created by the community and can be installed via the </a:t>
            </a:r>
            <a:r>
              <a:rPr lang="en-US" sz="1600" dirty="0">
                <a:hlinkClick r:id="rId3">
                  <a:extLst>
                    <a:ext uri="{A12FA001-AC4F-418D-AE19-62706E023703}">
                      <ahyp:hlinkClr xmlns:ahyp="http://schemas.microsoft.com/office/drawing/2018/hyperlinkcolor" val="tx"/>
                    </a:ext>
                  </a:extLst>
                </a:hlinkClick>
              </a:rPr>
              <a:t>Python Package Index (</a:t>
            </a:r>
            <a:r>
              <a:rPr lang="en-US" sz="1600" dirty="0" err="1">
                <a:hlinkClick r:id="rId3">
                  <a:extLst>
                    <a:ext uri="{A12FA001-AC4F-418D-AE19-62706E023703}">
                      <ahyp:hlinkClr xmlns:ahyp="http://schemas.microsoft.com/office/drawing/2018/hyperlinkcolor" val="tx"/>
                    </a:ext>
                  </a:extLst>
                </a:hlinkClick>
              </a:rPr>
              <a:t>PyPI</a:t>
            </a:r>
            <a:r>
              <a:rPr lang="en-US" sz="1600" dirty="0">
                <a:hlinkClick r:id="rId3">
                  <a:extLst>
                    <a:ext uri="{A12FA001-AC4F-418D-AE19-62706E023703}">
                      <ahyp:hlinkClr xmlns:ahyp="http://schemas.microsoft.com/office/drawing/2018/hyperlinkcolor" val="tx"/>
                    </a:ext>
                  </a:extLst>
                </a:hlinkClick>
              </a:rPr>
              <a:t>)</a:t>
            </a:r>
            <a:r>
              <a:rPr lang="en-US" sz="1600" dirty="0"/>
              <a:t> using a tool like pip. Popular ones include NumPy for data science and Requests for web browsing.</a:t>
            </a:r>
          </a:p>
          <a:p>
            <a:endParaRPr lang="en-US" sz="1600" dirty="0"/>
          </a:p>
          <a:p>
            <a:r>
              <a:rPr lang="en-US" sz="1600" b="1" u="sng" dirty="0"/>
              <a:t>User-Defined Modules</a:t>
            </a:r>
            <a:r>
              <a:rPr lang="en-US" sz="1600" dirty="0"/>
              <a:t>: Any Python file you create (e.g., mymodule.py) can be imported into another script as a module</a:t>
            </a:r>
          </a:p>
        </p:txBody>
      </p:sp>
    </p:spTree>
    <p:extLst>
      <p:ext uri="{BB962C8B-B14F-4D97-AF65-F5344CB8AC3E}">
        <p14:creationId xmlns:p14="http://schemas.microsoft.com/office/powerpoint/2010/main" val="2428767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Python Type Errors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US" sz="1600" dirty="0"/>
              <a:t>A </a:t>
            </a:r>
            <a:r>
              <a:rPr lang="en-US" sz="1600" b="1" dirty="0" err="1"/>
              <a:t>TypeError</a:t>
            </a:r>
            <a:r>
              <a:rPr lang="en-US" sz="1600" dirty="0"/>
              <a:t> in Python occurs when an operation or function is applied to an object of an inappropriate type. For example, you will trigger this error if you try to add a string and an integer together (\("5" + 2\)). </a:t>
            </a:r>
          </a:p>
          <a:p>
            <a:endParaRPr lang="en-US" sz="1600" dirty="0"/>
          </a:p>
          <a:p>
            <a:r>
              <a:rPr lang="en-US" sz="1600" b="1" u="sng" dirty="0"/>
              <a:t>Incompatible Operations</a:t>
            </a:r>
            <a:r>
              <a:rPr lang="en-US" sz="1600" dirty="0"/>
              <a:t>: Performing math on mixed data types (e.g., subtracting a string from an integer).</a:t>
            </a:r>
          </a:p>
          <a:p>
            <a:endParaRPr lang="en-US" sz="1600" dirty="0"/>
          </a:p>
          <a:p>
            <a:r>
              <a:rPr lang="en-US" sz="1600" b="1" u="sng" dirty="0"/>
              <a:t>Calling Non-</a:t>
            </a:r>
            <a:r>
              <a:rPr lang="en-US" sz="1600" b="1" u="sng" dirty="0" err="1"/>
              <a:t>callables</a:t>
            </a:r>
            <a:r>
              <a:rPr lang="en-US" sz="1600" dirty="0"/>
              <a:t>: Attempting to use a variable like a function (e.g., </a:t>
            </a:r>
            <a:r>
              <a:rPr lang="en-US" sz="1600" dirty="0" err="1"/>
              <a:t>my_string</a:t>
            </a:r>
            <a:r>
              <a:rPr lang="en-US" sz="1600" dirty="0"/>
              <a:t>()).</a:t>
            </a:r>
          </a:p>
          <a:p>
            <a:endParaRPr lang="en-US" sz="1600" dirty="0"/>
          </a:p>
          <a:p>
            <a:r>
              <a:rPr lang="en-US" sz="1600" b="1" u="sng" dirty="0"/>
              <a:t>Invalid Indexing</a:t>
            </a:r>
            <a:r>
              <a:rPr lang="en-US" sz="1600" dirty="0"/>
              <a:t>: Using a non-integer (like a string or float) as an index for a list or tuple.</a:t>
            </a:r>
          </a:p>
          <a:p>
            <a:endParaRPr lang="en-US" sz="1600" dirty="0"/>
          </a:p>
          <a:p>
            <a:r>
              <a:rPr lang="en-US" sz="1600" b="1" u="sng" dirty="0"/>
              <a:t>Non-</a:t>
            </a:r>
            <a:r>
              <a:rPr lang="en-US" sz="1600" b="1" u="sng" dirty="0" err="1"/>
              <a:t>iterable</a:t>
            </a:r>
            <a:r>
              <a:rPr lang="en-US" sz="1600" b="1" u="sng" dirty="0"/>
              <a:t> Objects</a:t>
            </a:r>
            <a:r>
              <a:rPr lang="en-US" sz="1600" dirty="0"/>
              <a:t>: Trying to loop over a single value like an integer or float.</a:t>
            </a:r>
          </a:p>
          <a:p>
            <a:endParaRPr lang="en-US" sz="1600" dirty="0"/>
          </a:p>
          <a:p>
            <a:r>
              <a:rPr lang="en-US" sz="1600" b="1" u="sng" dirty="0"/>
              <a:t>Wrong Function Arguments</a:t>
            </a:r>
            <a:r>
              <a:rPr lang="en-US" sz="1600" dirty="0"/>
              <a:t>: Passing data to a function that expects a different type, such as passing a list to a function expecting a number</a:t>
            </a:r>
          </a:p>
        </p:txBody>
      </p:sp>
    </p:spTree>
    <p:extLst>
      <p:ext uri="{BB962C8B-B14F-4D97-AF65-F5344CB8AC3E}">
        <p14:creationId xmlns:p14="http://schemas.microsoft.com/office/powerpoint/2010/main" val="1074499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dirty="0"/>
              <a:t>Python Lambda Functions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a:bodyPr>
          <a:lstStyle/>
          <a:p>
            <a:r>
              <a:rPr lang="en-US" sz="1600" dirty="0"/>
              <a:t>A </a:t>
            </a:r>
            <a:r>
              <a:rPr lang="en-US" sz="1600" b="1" dirty="0"/>
              <a:t>lambda function </a:t>
            </a:r>
            <a:r>
              <a:rPr lang="en-US" sz="1600" dirty="0"/>
              <a:t>in Python is a small, anonymous function that can have any number of arguments but can only contain one expression. Unlike standard functions defined with the </a:t>
            </a:r>
            <a:r>
              <a:rPr lang="en-US" sz="1600" b="1" dirty="0"/>
              <a:t>def keyword</a:t>
            </a:r>
            <a:r>
              <a:rPr lang="en-US" sz="1600" dirty="0"/>
              <a:t>, lambdas do not require a name and are typically used for short-lived operations. </a:t>
            </a:r>
          </a:p>
          <a:p>
            <a:endParaRPr lang="en-US" sz="1600" dirty="0"/>
          </a:p>
          <a:p>
            <a:r>
              <a:rPr lang="en-US" b="1" dirty="0"/>
              <a:t>lambda keyword</a:t>
            </a:r>
            <a:r>
              <a:rPr lang="en-US" sz="1600" dirty="0"/>
              <a:t>: Signals the start of an anonymous function.</a:t>
            </a:r>
          </a:p>
          <a:p>
            <a:endParaRPr lang="en-US" sz="1600" dirty="0"/>
          </a:p>
          <a:p>
            <a:r>
              <a:rPr lang="en-US" b="1" dirty="0"/>
              <a:t>Arguments</a:t>
            </a:r>
            <a:r>
              <a:rPr lang="en-US" sz="1600" dirty="0"/>
              <a:t>: The input values (can be zero, one, or many).</a:t>
            </a:r>
          </a:p>
          <a:p>
            <a:endParaRPr lang="en-US" sz="1600" dirty="0"/>
          </a:p>
          <a:p>
            <a:r>
              <a:rPr lang="en-US" b="1" dirty="0"/>
              <a:t>Expression</a:t>
            </a:r>
            <a:r>
              <a:rPr lang="en-US" sz="1600" dirty="0"/>
              <a:t>: A single line of code that is executed and its result is automatically returned</a:t>
            </a:r>
          </a:p>
        </p:txBody>
      </p:sp>
    </p:spTree>
    <p:extLst>
      <p:ext uri="{BB962C8B-B14F-4D97-AF65-F5344CB8AC3E}">
        <p14:creationId xmlns:p14="http://schemas.microsoft.com/office/powerpoint/2010/main" val="2339224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Modules</a:t>
            </a:r>
          </a:p>
          <a:p>
            <a:pPr marL="0" indent="0">
              <a:buNone/>
            </a:pPr>
            <a:endParaRPr lang="en-US" dirty="0">
              <a:ea typeface="Calibri"/>
              <a:cs typeface="Calibri"/>
            </a:endParaRPr>
          </a:p>
          <a:p>
            <a:r>
              <a:rPr lang="en-US" dirty="0">
                <a:ea typeface="Calibri"/>
                <a:cs typeface="Calibri"/>
              </a:rPr>
              <a:t> Python Lambda Functions</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Override1.xml><?xml version="1.0" encoding="utf-8"?>
<a:themeOverride xmlns:a="http://schemas.openxmlformats.org/drawingml/2006/main">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2912</TotalTime>
  <Words>1238</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Segoe UI</vt:lpstr>
      <vt:lpstr>Wingdings</vt:lpstr>
      <vt:lpstr>Office 2013 - 2022 Theme</vt:lpstr>
      <vt:lpstr>Python Scripting with Network</vt:lpstr>
      <vt:lpstr>Agenda</vt:lpstr>
      <vt:lpstr>Python for Network Automation </vt:lpstr>
      <vt:lpstr>ISO/OSI Layers of Networking </vt:lpstr>
      <vt:lpstr>OSI Layer – Real World Example</vt:lpstr>
      <vt:lpstr>OSI Layer - Advantages</vt:lpstr>
      <vt:lpstr>OSI Layer v/s TCP/IP Model</vt:lpstr>
      <vt:lpstr>Python Libraries for Networking </vt:lpstr>
      <vt:lpstr>Python Modules</vt:lpstr>
      <vt:lpstr>Python Type Errors</vt:lpstr>
      <vt:lpstr>Python Lambda Functions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23</cp:revision>
  <dcterms:created xsi:type="dcterms:W3CDTF">2026-04-11T17:33:10Z</dcterms:created>
  <dcterms:modified xsi:type="dcterms:W3CDTF">2026-05-27T16:26:46Z</dcterms:modified>
</cp:coreProperties>
</file>