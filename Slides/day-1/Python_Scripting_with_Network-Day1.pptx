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58" r:id="rId4"/>
    <p:sldId id="259" r:id="rId5"/>
    <p:sldId id="262" r:id="rId6"/>
    <p:sldId id="263" r:id="rId7"/>
    <p:sldId id="264" r:id="rId8"/>
    <p:sldId id="265" r:id="rId9"/>
    <p:sldId id="266" r:id="rId10"/>
    <p:sldId id="267" r:id="rId11"/>
    <p:sldId id="269" r:id="rId12"/>
    <p:sldId id="270" r:id="rId13"/>
    <p:sldId id="271" r:id="rId14"/>
    <p:sldId id="272" r:id="rId15"/>
    <p:sldId id="260" r:id="rId16"/>
    <p:sldId id="273" r:id="rId17"/>
    <p:sldId id="274" r:id="rId18"/>
    <p:sldId id="275" r:id="rId19"/>
    <p:sldId id="284" r:id="rId20"/>
    <p:sldId id="285" r:id="rId21"/>
    <p:sldId id="286" r:id="rId22"/>
    <p:sldId id="28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7/6/2026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video" Target="https://www.youtube.com/embed/ke9xSWJCWX8?list=PL2Uw4_HvXqvYg5fYUg9tzVrY3zCT7W7Y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t>Overview of Python </a:t>
            </a:r>
          </a:p>
          <a:p>
            <a:pPr>
              <a:lnSpc>
                <a:spcPct val="100000"/>
              </a:lnSpc>
            </a:pPr>
            <a:r>
              <a:rPr lang="en-US" sz="2200" dirty="0"/>
              <a:t>Object Oriented Programming (OOPs) Concepts</a:t>
            </a:r>
          </a:p>
          <a:p>
            <a:r>
              <a:rPr lang="en-US" sz="2200" dirty="0"/>
              <a:t>Python Installation</a:t>
            </a:r>
          </a:p>
          <a:p>
            <a:r>
              <a:rPr lang="en-US" sz="2200" dirty="0"/>
              <a:t>Python Data Types</a:t>
            </a:r>
            <a:endParaRPr lang="en-US" dirty="0"/>
          </a:p>
          <a:p>
            <a:r>
              <a:rPr lang="en-US" sz="2200" dirty="0">
                <a:ea typeface="Calibri" panose="020F0502020204030204"/>
                <a:cs typeface="Calibri" panose="020F0502020204030204"/>
              </a:rPr>
              <a:t>Variables in Python</a:t>
            </a:r>
          </a:p>
          <a:p>
            <a:r>
              <a:rPr lang="en-US" sz="2200" dirty="0">
                <a:ea typeface="Calibri" panose="020F0502020204030204"/>
                <a:cs typeface="Calibri" panose="020F0502020204030204"/>
              </a:rPr>
              <a:t>Operators in Python</a:t>
            </a:r>
            <a:endParaRPr lang="en-US" dirty="0">
              <a:ea typeface="Calibri" panose="020F0502020204030204"/>
              <a:cs typeface="Calibri" panose="020F0502020204030204"/>
            </a:endParaRPr>
          </a:p>
          <a:p>
            <a:r>
              <a:rPr lang="en-US" sz="2200" dirty="0">
                <a:ea typeface="Calibri" panose="020F0502020204030204"/>
                <a:cs typeface="Calibri" panose="020F0502020204030204"/>
              </a:rPr>
              <a:t>Python Loops</a:t>
            </a:r>
            <a:endParaRPr lang="en-US" dirty="0">
              <a:ea typeface="Calibri" panose="020F0502020204030204"/>
              <a:cs typeface="Calibri" panose="020F0502020204030204"/>
            </a:endParaRPr>
          </a:p>
          <a:p>
            <a:r>
              <a:rPr lang="en-US" sz="2200" dirty="0">
                <a:ea typeface="Calibri" panose="020F0502020204030204"/>
                <a:cs typeface="Calibri" panose="020F0502020204030204"/>
              </a:rPr>
              <a:t>Conditional statements</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dirty="0">
                <a:solidFill>
                  <a:schemeClr val="tx1">
                    <a:lumMod val="85000"/>
                    <a:lumOff val="15000"/>
                  </a:schemeClr>
                </a:solidFill>
              </a:rPr>
              <a:t>Overview of Python</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659220" y="1584252"/>
            <a:ext cx="10681850" cy="4713884"/>
          </a:xfrm>
        </p:spPr>
        <p:txBody>
          <a:bodyPr anchor="ctr">
            <a:normAutofit/>
          </a:bodyPr>
          <a:lstStyle/>
          <a:p>
            <a:r>
              <a:rPr lang="en-IN" sz="1300" dirty="0"/>
              <a:t>Python is a versatile and powerful programming language that has become essential for network engineers. Whether you’re new to networking or an experienced professional, Python offers numerous benefits for network-related tasks. Let’s explore the key aspects of Python for network engineering</a:t>
            </a:r>
            <a:r>
              <a:rPr lang="en-IN" dirty="0"/>
              <a:t>.</a:t>
            </a:r>
            <a:endParaRPr lang="en-US" sz="1600" dirty="0">
              <a:ea typeface="Calibri"/>
              <a:cs typeface="Calibri"/>
            </a:endParaRPr>
          </a:p>
          <a:p>
            <a:r>
              <a:rPr lang="en-US" sz="1600" b="1" dirty="0">
                <a:solidFill>
                  <a:srgbClr val="001D35"/>
                </a:solidFill>
                <a:highlight>
                  <a:srgbClr val="FFFFFF"/>
                </a:highlight>
                <a:ea typeface="+mn-lt"/>
                <a:cs typeface="+mn-lt"/>
              </a:rPr>
              <a:t>Python for Network Automation</a:t>
            </a:r>
          </a:p>
          <a:p>
            <a:r>
              <a:rPr lang="en-US" sz="1500" b="1" dirty="0">
                <a:solidFill>
                  <a:srgbClr val="001D35"/>
                </a:solidFill>
                <a:highlight>
                  <a:srgbClr val="FFFFFF"/>
                </a:highlight>
                <a:ea typeface="+mn-lt"/>
                <a:cs typeface="+mn-lt"/>
              </a:rPr>
              <a:t>Network Automation - </a:t>
            </a:r>
            <a:r>
              <a:rPr lang="en-IN" sz="1200" dirty="0"/>
              <a:t>Python helps network engineers automate repetitive tasks such as making configuration changes, creating backups, and monitoring networks</a:t>
            </a:r>
            <a:r>
              <a:rPr lang="en-IN" dirty="0"/>
              <a:t>.</a:t>
            </a:r>
            <a:endParaRPr lang="en-US" sz="1600" dirty="0">
              <a:ea typeface="Calibri"/>
              <a:cs typeface="Calibri"/>
            </a:endParaRPr>
          </a:p>
          <a:p>
            <a:r>
              <a:rPr lang="en-US" sz="1600" b="1" dirty="0">
                <a:ea typeface="Calibri"/>
                <a:cs typeface="Calibri"/>
              </a:rPr>
              <a:t>Configuration Management </a:t>
            </a:r>
            <a:r>
              <a:rPr lang="en-US" sz="1600" dirty="0">
                <a:ea typeface="Calibri"/>
                <a:cs typeface="Calibri"/>
              </a:rPr>
              <a:t>– </a:t>
            </a:r>
            <a:r>
              <a:rPr lang="en-US" sz="1200" dirty="0">
                <a:ea typeface="Calibri"/>
                <a:cs typeface="Calibri"/>
              </a:rPr>
              <a:t>Python based tools like Ansible, NAPALM, </a:t>
            </a:r>
            <a:r>
              <a:rPr lang="en-US" sz="1200" dirty="0" err="1">
                <a:ea typeface="Calibri"/>
                <a:cs typeface="Calibri"/>
              </a:rPr>
              <a:t>Netmiko</a:t>
            </a:r>
            <a:r>
              <a:rPr lang="en-US" sz="1200" dirty="0">
                <a:ea typeface="Calibri"/>
                <a:cs typeface="Calibri"/>
              </a:rPr>
              <a:t> are widely used for configuration management. </a:t>
            </a:r>
          </a:p>
          <a:p>
            <a:r>
              <a:rPr lang="en-US" sz="1600" b="1" dirty="0">
                <a:cs typeface="Calibri"/>
              </a:rPr>
              <a:t>Monitoring &amp; Troubleshooting </a:t>
            </a:r>
            <a:r>
              <a:rPr lang="en-US" sz="1200" dirty="0">
                <a:ea typeface="Calibri"/>
                <a:cs typeface="Calibri"/>
              </a:rPr>
              <a:t>– Python allows network engineers to create custom tools for monitoring and troubleshooting ensuring smooth health of network. </a:t>
            </a:r>
          </a:p>
          <a:p>
            <a:r>
              <a:rPr lang="en-US" sz="1600" b="1" dirty="0">
                <a:cs typeface="Calibri"/>
              </a:rPr>
              <a:t>Network Security </a:t>
            </a:r>
            <a:r>
              <a:rPr lang="en-US" sz="1200" dirty="0">
                <a:ea typeface="Calibri"/>
                <a:cs typeface="Calibri"/>
              </a:rPr>
              <a:t>– Python allows implementing strong security policies, analyzing network traffic, responding to security incidents. </a:t>
            </a:r>
          </a:p>
          <a:p>
            <a:r>
              <a:rPr lang="en-US" sz="1600" b="1" dirty="0">
                <a:cs typeface="Calibri"/>
              </a:rPr>
              <a:t>Cross –platform Compatibility </a:t>
            </a:r>
            <a:r>
              <a:rPr lang="en-US" sz="1200" dirty="0">
                <a:ea typeface="Calibri"/>
                <a:cs typeface="Calibri"/>
              </a:rPr>
              <a:t>– Python involves various OS and devices, streamlining operations,  improve network efficiency and enhance security. </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a:latin typeface="+mj-lt"/>
                <a:ea typeface="+mj-ea"/>
                <a:cs typeface="+mj-cs"/>
              </a:rPr>
              <a:t>Python Benefits</a:t>
            </a: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1084EE8-8FB6-B7FF-F1EF-3E997F515E65}"/>
              </a:ext>
            </a:extLst>
          </p:cNvPr>
          <p:cNvSpPr txBox="1"/>
          <p:nvPr/>
        </p:nvSpPr>
        <p:spPr>
          <a:xfrm>
            <a:off x="7219156" y="1904214"/>
            <a:ext cx="437388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dirty="0">
                <a:ea typeface="Calibri" panose="020F0502020204030204"/>
                <a:cs typeface="Calibri" panose="020F0502020204030204"/>
              </a:rPr>
              <a:t>Massive Library Ecosystem</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Netmiko</a:t>
            </a:r>
            <a:r>
              <a:rPr lang="en-US" dirty="0">
                <a:ea typeface="Calibri" panose="020F0502020204030204"/>
                <a:cs typeface="Calibri" panose="020F0502020204030204"/>
              </a:rPr>
              <a:t> – Simplifies SSH connections for network devices</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Paramiko</a:t>
            </a:r>
            <a:r>
              <a:rPr lang="en-US" dirty="0">
                <a:ea typeface="Calibri" panose="020F0502020204030204"/>
                <a:cs typeface="Calibri" panose="020F0502020204030204"/>
              </a:rPr>
              <a:t> – A low level library for SSH V2 protocol support</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a:ea typeface="Calibri" panose="020F0502020204030204"/>
                <a:cs typeface="Calibri" panose="020F0502020204030204"/>
              </a:rPr>
              <a:t>NAPALM – provides a unified API to interact with different OS</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err="1">
                <a:ea typeface="Calibri" panose="020F0502020204030204"/>
                <a:cs typeface="Calibri" panose="020F0502020204030204"/>
              </a:rPr>
              <a:t>Scapy</a:t>
            </a:r>
            <a:r>
              <a:rPr lang="en-US" dirty="0">
                <a:ea typeface="Calibri" panose="020F0502020204030204"/>
                <a:cs typeface="Calibri" panose="020F0502020204030204"/>
              </a:rPr>
              <a:t> – Powerful tool for packet manipulation, sniffing/forging. </a:t>
            </a:r>
          </a:p>
          <a:p>
            <a:pPr marL="342900" indent="-342900">
              <a:buAutoNum type="arabicPeriod"/>
            </a:pPr>
            <a:endParaRPr lang="en-US" dirty="0">
              <a:ea typeface="Calibri" panose="020F0502020204030204"/>
              <a:cs typeface="Calibri" panose="020F0502020204030204"/>
            </a:endParaRPr>
          </a:p>
          <a:p>
            <a:pPr marL="342900" indent="-342900">
              <a:buAutoNum type="arabicPeriod"/>
            </a:pPr>
            <a:r>
              <a:rPr lang="en-US" dirty="0">
                <a:ea typeface="Calibri" panose="020F0502020204030204"/>
                <a:cs typeface="Calibri" panose="020F0502020204030204"/>
              </a:rPr>
              <a:t>Low level socket support – building custom clients &amp; servers and protocols like HTTP, FTP, TCP.</a:t>
            </a:r>
          </a:p>
        </p:txBody>
      </p:sp>
      <p:pic>
        <p:nvPicPr>
          <p:cNvPr id="6" name="Online Media 5" descr="PyCon US 2026 Tutorial Sneak Peek: &quot;Python for Absolute Beginners&quot; - Al Sweigart">
            <a:hlinkClick r:id="" action="ppaction://media"/>
            <a:extLst>
              <a:ext uri="{FF2B5EF4-FFF2-40B4-BE49-F238E27FC236}">
                <a16:creationId xmlns:a16="http://schemas.microsoft.com/office/drawing/2014/main" id="{6C50A72A-FEC8-A6A5-329B-D870E8DB629F}"/>
              </a:ext>
            </a:extLst>
          </p:cNvPr>
          <p:cNvPicPr>
            <a:picLocks noGrp="1" noRot="1" noChangeAspect="1"/>
          </p:cNvPicPr>
          <p:nvPr>
            <p:ph idx="1"/>
            <a:videoFile r:link="rId1"/>
          </p:nvPr>
        </p:nvPicPr>
        <p:blipFill>
          <a:blip r:embed="rId3"/>
          <a:stretch>
            <a:fillRect/>
          </a:stretch>
        </p:blipFill>
        <p:spPr>
          <a:xfrm>
            <a:off x="2246313" y="1825625"/>
            <a:ext cx="4373880" cy="2471409"/>
          </a:xfrm>
          <a:prstGeom prst="rect">
            <a:avLst/>
          </a:prstGeom>
        </p:spPr>
      </p:pic>
    </p:spTree>
    <p:extLst>
      <p:ext uri="{BB962C8B-B14F-4D97-AF65-F5344CB8AC3E}">
        <p14:creationId xmlns:p14="http://schemas.microsoft.com/office/powerpoint/2010/main" val="283359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a:bodyPr>
          <a:lstStyle/>
          <a:p>
            <a:r>
              <a:rPr lang="en-US" sz="4800" dirty="0">
                <a:ea typeface="Calibri Light"/>
                <a:cs typeface="Calibri Light"/>
              </a:rPr>
              <a:t>OOPs with Python</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EB12F5DE-84BF-A3BA-AC20-78988ABF90CD}"/>
              </a:ext>
            </a:extLst>
          </p:cNvPr>
          <p:cNvSpPr>
            <a:spLocks noGrp="1"/>
          </p:cNvSpPr>
          <p:nvPr>
            <p:ph idx="1"/>
          </p:nvPr>
        </p:nvSpPr>
        <p:spPr>
          <a:xfrm>
            <a:off x="793660" y="2196943"/>
            <a:ext cx="10587098" cy="4042016"/>
          </a:xfrm>
        </p:spPr>
        <p:txBody>
          <a:bodyPr anchor="ctr">
            <a:normAutofit/>
          </a:bodyPr>
          <a:lstStyle/>
          <a:p>
            <a:r>
              <a:rPr lang="en-US" sz="1600" dirty="0">
                <a:solidFill>
                  <a:schemeClr val="tx1">
                    <a:lumMod val="85000"/>
                    <a:lumOff val="15000"/>
                  </a:schemeClr>
                </a:solidFill>
                <a:ea typeface="Calibri"/>
                <a:cs typeface="Calibri"/>
              </a:rPr>
              <a:t>The building blocks of Object-oriented programming are classes and objects.</a:t>
            </a:r>
          </a:p>
          <a:p>
            <a:r>
              <a:rPr lang="en-US" sz="1600" b="1" dirty="0">
                <a:solidFill>
                  <a:schemeClr val="tx1">
                    <a:lumMod val="85000"/>
                    <a:lumOff val="15000"/>
                  </a:schemeClr>
                </a:solidFill>
                <a:ea typeface="Calibri"/>
                <a:cs typeface="Calibri"/>
              </a:rPr>
              <a:t>Classes</a:t>
            </a:r>
            <a:r>
              <a:rPr lang="en-US" sz="1600" dirty="0">
                <a:solidFill>
                  <a:schemeClr val="tx1">
                    <a:lumMod val="85000"/>
                    <a:lumOff val="15000"/>
                  </a:schemeClr>
                </a:solidFill>
                <a:ea typeface="Calibri"/>
                <a:cs typeface="Calibri"/>
              </a:rPr>
              <a:t> – A blueprint or template for creating objects. It defines the attributes and methods. </a:t>
            </a:r>
          </a:p>
          <a:p>
            <a:r>
              <a:rPr lang="en-US" sz="1600" b="1" dirty="0">
                <a:solidFill>
                  <a:schemeClr val="tx1">
                    <a:lumMod val="85000"/>
                    <a:lumOff val="15000"/>
                  </a:schemeClr>
                </a:solidFill>
                <a:ea typeface="Calibri"/>
                <a:cs typeface="Calibri"/>
              </a:rPr>
              <a:t>Objects</a:t>
            </a:r>
            <a:r>
              <a:rPr lang="en-US" sz="1600" dirty="0">
                <a:solidFill>
                  <a:schemeClr val="tx1">
                    <a:lumMod val="85000"/>
                    <a:lumOff val="15000"/>
                  </a:schemeClr>
                </a:solidFill>
                <a:ea typeface="Calibri"/>
                <a:cs typeface="Calibri"/>
              </a:rPr>
              <a:t> – A specific instance of a class, If “Router” is the class, you specified “cisco” is the object. </a:t>
            </a:r>
          </a:p>
          <a:p>
            <a:r>
              <a:rPr lang="en-US" sz="1600" b="1" dirty="0">
                <a:solidFill>
                  <a:schemeClr val="tx1">
                    <a:lumMod val="85000"/>
                    <a:lumOff val="15000"/>
                  </a:schemeClr>
                </a:solidFill>
                <a:ea typeface="Calibri"/>
                <a:cs typeface="Calibri"/>
              </a:rPr>
              <a:t>Methods</a:t>
            </a:r>
            <a:r>
              <a:rPr lang="en-US" sz="1600" dirty="0">
                <a:solidFill>
                  <a:schemeClr val="tx1">
                    <a:lumMod val="85000"/>
                    <a:lumOff val="15000"/>
                  </a:schemeClr>
                </a:solidFill>
                <a:ea typeface="Calibri"/>
                <a:cs typeface="Calibri"/>
              </a:rPr>
              <a:t> – Functions defined inside a class which defines the actions an object can perform. </a:t>
            </a:r>
          </a:p>
          <a:p>
            <a:r>
              <a:rPr lang="en-US" sz="1600" b="1" dirty="0">
                <a:solidFill>
                  <a:schemeClr val="tx1">
                    <a:lumMod val="85000"/>
                    <a:lumOff val="15000"/>
                  </a:schemeClr>
                </a:solidFill>
                <a:ea typeface="Calibri"/>
                <a:cs typeface="Calibri"/>
              </a:rPr>
              <a:t>Attributes</a:t>
            </a:r>
            <a:r>
              <a:rPr lang="en-US" sz="1600" dirty="0">
                <a:solidFill>
                  <a:schemeClr val="tx1">
                    <a:lumMod val="85000"/>
                    <a:lumOff val="15000"/>
                  </a:schemeClr>
                </a:solidFill>
                <a:ea typeface="Calibri"/>
                <a:cs typeface="Calibri"/>
              </a:rPr>
              <a:t> – Variables which hold data specific to the class (class attributes) or instance attributes.  </a:t>
            </a:r>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585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C19FA-8109-E306-2BD0-50DBE1E0CB40}"/>
              </a:ext>
            </a:extLst>
          </p:cNvPr>
          <p:cNvSpPr>
            <a:spLocks noGrp="1"/>
          </p:cNvSpPr>
          <p:nvPr>
            <p:ph type="title"/>
          </p:nvPr>
        </p:nvSpPr>
        <p:spPr/>
        <p:txBody>
          <a:bodyPr/>
          <a:lstStyle/>
          <a:p>
            <a:r>
              <a:rPr lang="en-US" dirty="0">
                <a:ea typeface="Calibri Light"/>
                <a:cs typeface="Calibri Light"/>
              </a:rPr>
              <a:t>Python Installation</a:t>
            </a:r>
          </a:p>
        </p:txBody>
      </p:sp>
      <p:sp>
        <p:nvSpPr>
          <p:cNvPr id="3" name="Content Placeholder 2">
            <a:extLst>
              <a:ext uri="{FF2B5EF4-FFF2-40B4-BE49-F238E27FC236}">
                <a16:creationId xmlns:a16="http://schemas.microsoft.com/office/drawing/2014/main" id="{3C821F84-A5E5-58E7-F8CB-8C7FD76B76B8}"/>
              </a:ext>
            </a:extLst>
          </p:cNvPr>
          <p:cNvSpPr>
            <a:spLocks noGrp="1"/>
          </p:cNvSpPr>
          <p:nvPr>
            <p:ph idx="1"/>
          </p:nvPr>
        </p:nvSpPr>
        <p:spPr>
          <a:xfrm>
            <a:off x="838200" y="1825625"/>
            <a:ext cx="10688128" cy="4351338"/>
          </a:xfrm>
        </p:spPr>
        <p:txBody>
          <a:bodyPr vert="horz" lIns="91440" tIns="45720" rIns="91440" bIns="45720" rtlCol="0" anchor="t">
            <a:normAutofit/>
          </a:bodyPr>
          <a:lstStyle/>
          <a:p>
            <a:r>
              <a:rPr lang="en-US" sz="1600" dirty="0">
                <a:solidFill>
                  <a:schemeClr val="tx1">
                    <a:lumMod val="85000"/>
                    <a:lumOff val="15000"/>
                  </a:schemeClr>
                </a:solidFill>
                <a:ea typeface="Calibri"/>
                <a:cs typeface="Calibri"/>
              </a:rPr>
              <a:t>Pip is the package installer for Python. You can use pip to install packages from python package index and other repositories. </a:t>
            </a:r>
          </a:p>
          <a:p>
            <a:endParaRPr lang="en-US" sz="1600" dirty="0">
              <a:solidFill>
                <a:schemeClr val="tx1">
                  <a:lumMod val="85000"/>
                  <a:lumOff val="15000"/>
                </a:schemeClr>
              </a:solidFill>
              <a:ea typeface="Calibri"/>
              <a:cs typeface="Calibri"/>
            </a:endParaRPr>
          </a:p>
          <a:p>
            <a:r>
              <a:rPr lang="en-US" sz="1800" b="1" dirty="0">
                <a:solidFill>
                  <a:schemeClr val="tx1">
                    <a:lumMod val="85000"/>
                    <a:lumOff val="15000"/>
                  </a:schemeClr>
                </a:solidFill>
                <a:ea typeface="Calibri"/>
                <a:cs typeface="Calibri"/>
              </a:rPr>
              <a:t>Installation</a:t>
            </a:r>
          </a:p>
          <a:p>
            <a:r>
              <a:rPr lang="en-US" sz="1600" dirty="0">
                <a:solidFill>
                  <a:schemeClr val="tx1">
                    <a:lumMod val="85000"/>
                    <a:lumOff val="15000"/>
                  </a:schemeClr>
                </a:solidFill>
                <a:ea typeface="Calibri"/>
                <a:cs typeface="Calibri"/>
              </a:rPr>
              <a:t>Working in a virtual environment</a:t>
            </a:r>
          </a:p>
          <a:p>
            <a:r>
              <a:rPr lang="en-US" sz="1600" dirty="0">
                <a:solidFill>
                  <a:schemeClr val="tx1">
                    <a:lumMod val="85000"/>
                    <a:lumOff val="15000"/>
                  </a:schemeClr>
                </a:solidFill>
                <a:ea typeface="Calibri"/>
                <a:cs typeface="Calibri"/>
              </a:rPr>
              <a:t>Using Python downloaded from </a:t>
            </a:r>
            <a:r>
              <a:rPr lang="en-US" sz="1600" dirty="0" err="1">
                <a:solidFill>
                  <a:schemeClr val="tx1">
                    <a:lumMod val="85000"/>
                    <a:lumOff val="15000"/>
                  </a:schemeClr>
                </a:solidFill>
                <a:ea typeface="Calibri"/>
                <a:cs typeface="Calibri"/>
              </a:rPr>
              <a:t>python.org</a:t>
            </a:r>
            <a:endParaRPr lang="en-US" sz="1600" dirty="0">
              <a:solidFill>
                <a:schemeClr val="tx1">
                  <a:lumMod val="85000"/>
                  <a:lumOff val="15000"/>
                </a:schemeClr>
              </a:solidFill>
              <a:ea typeface="Calibri"/>
              <a:cs typeface="Calibri"/>
            </a:endParaRPr>
          </a:p>
          <a:p>
            <a:r>
              <a:rPr lang="en-US" sz="1600" dirty="0">
                <a:solidFill>
                  <a:schemeClr val="tx1">
                    <a:lumMod val="85000"/>
                    <a:lumOff val="15000"/>
                  </a:schemeClr>
                </a:solidFill>
                <a:ea typeface="Calibri"/>
                <a:cs typeface="Calibri"/>
              </a:rPr>
              <a:t>Using Python which has not been modified by a redistributor to remove </a:t>
            </a:r>
            <a:r>
              <a:rPr lang="en-US" sz="1600" dirty="0" err="1">
                <a:solidFill>
                  <a:schemeClr val="tx1">
                    <a:lumMod val="85000"/>
                    <a:lumOff val="15000"/>
                  </a:schemeClr>
                </a:solidFill>
                <a:ea typeface="Calibri"/>
                <a:cs typeface="Calibri"/>
              </a:rPr>
              <a:t>ensurepip</a:t>
            </a:r>
            <a:r>
              <a:rPr lang="en-US" sz="1600" dirty="0">
                <a:solidFill>
                  <a:schemeClr val="tx1">
                    <a:lumMod val="85000"/>
                    <a:lumOff val="15000"/>
                  </a:schemeClr>
                </a:solidFill>
                <a:ea typeface="Calibri"/>
                <a:cs typeface="Calibri"/>
              </a:rPr>
              <a:t>. </a:t>
            </a:r>
          </a:p>
          <a:p>
            <a:endParaRPr lang="en-US" sz="1600" dirty="0">
              <a:solidFill>
                <a:schemeClr val="tx1">
                  <a:lumMod val="85000"/>
                  <a:lumOff val="15000"/>
                </a:schemeClr>
              </a:solidFill>
              <a:ea typeface="Calibri"/>
              <a:cs typeface="Calibri"/>
            </a:endParaRPr>
          </a:p>
          <a:p>
            <a:r>
              <a:rPr lang="en-US" sz="1600" dirty="0">
                <a:solidFill>
                  <a:schemeClr val="tx1">
                    <a:lumMod val="85000"/>
                    <a:lumOff val="15000"/>
                  </a:schemeClr>
                </a:solidFill>
                <a:ea typeface="Calibri"/>
                <a:cs typeface="Calibri"/>
              </a:rPr>
              <a:t>Python Virtual Environment </a:t>
            </a:r>
          </a:p>
          <a:p>
            <a:r>
              <a:rPr lang="en-US" sz="1600" dirty="0">
                <a:solidFill>
                  <a:schemeClr val="tx1">
                    <a:lumMod val="85000"/>
                    <a:lumOff val="15000"/>
                  </a:schemeClr>
                </a:solidFill>
                <a:ea typeface="Calibri"/>
                <a:cs typeface="Calibri"/>
              </a:rPr>
              <a:t>Python’s virtual environment allows to install third-party packages without affecting python installation. </a:t>
            </a:r>
          </a:p>
          <a:p>
            <a:r>
              <a:rPr lang="en-US" sz="1600" dirty="0">
                <a:solidFill>
                  <a:schemeClr val="tx1">
                    <a:lumMod val="85000"/>
                    <a:lumOff val="15000"/>
                  </a:schemeClr>
                </a:solidFill>
                <a:ea typeface="Calibri"/>
                <a:cs typeface="Calibri"/>
              </a:rPr>
              <a:t>Built-in </a:t>
            </a:r>
            <a:r>
              <a:rPr lang="en-US" sz="1600" b="1" dirty="0" err="1">
                <a:solidFill>
                  <a:schemeClr val="tx1">
                    <a:lumMod val="85000"/>
                    <a:lumOff val="15000"/>
                  </a:schemeClr>
                </a:solidFill>
                <a:ea typeface="Calibri"/>
                <a:cs typeface="Calibri"/>
              </a:rPr>
              <a:t>venv</a:t>
            </a:r>
            <a:r>
              <a:rPr lang="en-US" sz="1600" dirty="0">
                <a:solidFill>
                  <a:schemeClr val="tx1">
                    <a:lumMod val="85000"/>
                    <a:lumOff val="15000"/>
                  </a:schemeClr>
                </a:solidFill>
                <a:ea typeface="Calibri"/>
                <a:cs typeface="Calibri"/>
              </a:rPr>
              <a:t> module</a:t>
            </a:r>
          </a:p>
          <a:p>
            <a:r>
              <a:rPr lang="en-US" sz="1600" dirty="0">
                <a:solidFill>
                  <a:schemeClr val="tx1">
                    <a:lumMod val="85000"/>
                    <a:lumOff val="15000"/>
                  </a:schemeClr>
                </a:solidFill>
                <a:ea typeface="Calibri"/>
                <a:cs typeface="Calibri"/>
              </a:rPr>
              <a:t>The </a:t>
            </a:r>
            <a:r>
              <a:rPr lang="en-US" sz="1600" b="1" dirty="0" err="1">
                <a:solidFill>
                  <a:schemeClr val="tx1">
                    <a:lumMod val="85000"/>
                    <a:lumOff val="15000"/>
                  </a:schemeClr>
                </a:solidFill>
                <a:ea typeface="Calibri"/>
                <a:cs typeface="Calibri"/>
              </a:rPr>
              <a:t>virtualenv</a:t>
            </a:r>
            <a:r>
              <a:rPr lang="en-US" sz="1600" dirty="0">
                <a:solidFill>
                  <a:schemeClr val="tx1">
                    <a:lumMod val="85000"/>
                    <a:lumOff val="15000"/>
                  </a:schemeClr>
                </a:solidFill>
                <a:ea typeface="Calibri"/>
                <a:cs typeface="Calibri"/>
              </a:rPr>
              <a:t> package</a:t>
            </a:r>
          </a:p>
        </p:txBody>
      </p:sp>
    </p:spTree>
    <p:extLst>
      <p:ext uri="{BB962C8B-B14F-4D97-AF65-F5344CB8AC3E}">
        <p14:creationId xmlns:p14="http://schemas.microsoft.com/office/powerpoint/2010/main" val="3283607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dirty="0">
                <a:ea typeface="Calibri Light"/>
                <a:cs typeface="Calibri Light"/>
              </a:rPr>
              <a:t>Python’s </a:t>
            </a:r>
            <a:r>
              <a:rPr lang="en-US" dirty="0" err="1">
                <a:ea typeface="Calibri Light"/>
                <a:cs typeface="Calibri Light"/>
              </a:rPr>
              <a:t>venv</a:t>
            </a:r>
            <a:r>
              <a:rPr lang="en-US" dirty="0">
                <a:ea typeface="Calibri Light"/>
                <a:cs typeface="Calibri Light"/>
              </a:rPr>
              <a:t> library</a:t>
            </a: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a:xfrm>
            <a:off x="277484" y="1523701"/>
            <a:ext cx="11076316" cy="4653262"/>
          </a:xfrm>
        </p:spPr>
        <p:txBody>
          <a:bodyPr vert="horz" lIns="91440" tIns="45720" rIns="91440" bIns="45720" rtlCol="0" anchor="t">
            <a:normAutofit/>
          </a:bodyPr>
          <a:lstStyle/>
          <a:p>
            <a:r>
              <a:rPr lang="en-US" sz="1600" dirty="0">
                <a:ea typeface="Calibri"/>
                <a:cs typeface="Calibri"/>
              </a:rPr>
              <a:t>To use </a:t>
            </a:r>
            <a:r>
              <a:rPr lang="en-US" sz="1600" dirty="0" err="1">
                <a:ea typeface="Calibri"/>
                <a:cs typeface="Calibri"/>
              </a:rPr>
              <a:t>venv</a:t>
            </a:r>
            <a:r>
              <a:rPr lang="en-US" sz="1600" dirty="0">
                <a:ea typeface="Calibri"/>
                <a:cs typeface="Calibri"/>
              </a:rPr>
              <a:t> module, you can run Python with the –m flag which tells Python to load the specific module. </a:t>
            </a:r>
          </a:p>
          <a:p>
            <a:r>
              <a:rPr lang="en-US" sz="1600" dirty="0">
                <a:ea typeface="Calibri"/>
                <a:cs typeface="Calibri"/>
              </a:rPr>
              <a:t>Python –m </a:t>
            </a:r>
            <a:r>
              <a:rPr lang="en-US" sz="1600" dirty="0" err="1">
                <a:ea typeface="Calibri"/>
                <a:cs typeface="Calibri"/>
              </a:rPr>
              <a:t>venv</a:t>
            </a:r>
            <a:r>
              <a:rPr lang="en-US" sz="1600" dirty="0">
                <a:ea typeface="Calibri"/>
                <a:cs typeface="Calibri"/>
              </a:rPr>
              <a:t> test </a:t>
            </a:r>
          </a:p>
          <a:p>
            <a:r>
              <a:rPr lang="en-US" sz="1600" dirty="0">
                <a:ea typeface="Calibri"/>
                <a:cs typeface="Calibri"/>
              </a:rPr>
              <a:t>This command creates a folder named test in your current directory, to activate the virtual environment navigate to the test folder, run the command in Linux / macOS. </a:t>
            </a:r>
          </a:p>
          <a:p>
            <a:r>
              <a:rPr lang="en-IN" sz="1600" b="1" dirty="0">
                <a:cs typeface="Calibri"/>
              </a:rPr>
              <a:t>source bin/activate </a:t>
            </a:r>
          </a:p>
          <a:p>
            <a:endParaRPr lang="en-US" sz="1600" dirty="0">
              <a:ea typeface="Calibri"/>
              <a:cs typeface="Calibri"/>
            </a:endParaRPr>
          </a:p>
          <a:p>
            <a:r>
              <a:rPr lang="en-US" sz="1600" dirty="0">
                <a:ea typeface="Calibri"/>
                <a:cs typeface="Calibri"/>
              </a:rPr>
              <a:t>The </a:t>
            </a:r>
            <a:r>
              <a:rPr lang="en-US" sz="1600" dirty="0" err="1">
                <a:ea typeface="Calibri"/>
                <a:cs typeface="Calibri"/>
              </a:rPr>
              <a:t>virtualenv</a:t>
            </a:r>
            <a:r>
              <a:rPr lang="en-US" sz="1600" dirty="0">
                <a:ea typeface="Calibri"/>
                <a:cs typeface="Calibri"/>
              </a:rPr>
              <a:t> package is faster &amp; it can create virtual environments for multiple python versions. </a:t>
            </a:r>
          </a:p>
          <a:p>
            <a:r>
              <a:rPr lang="en-US" sz="1600" dirty="0">
                <a:ea typeface="Calibri"/>
                <a:cs typeface="Calibri"/>
              </a:rPr>
              <a:t>It can upgraded via pip. </a:t>
            </a:r>
          </a:p>
          <a:p>
            <a:endParaRPr lang="en-US" sz="1600" dirty="0">
              <a:ea typeface="Calibri"/>
              <a:cs typeface="Calibri"/>
            </a:endParaRPr>
          </a:p>
          <a:p>
            <a:r>
              <a:rPr lang="en-US" sz="1600" b="1" dirty="0">
                <a:ea typeface="Calibri"/>
                <a:cs typeface="Calibri"/>
              </a:rPr>
              <a:t>pip install </a:t>
            </a:r>
            <a:r>
              <a:rPr lang="en-US" sz="1600" b="1" dirty="0" err="1">
                <a:ea typeface="Calibri"/>
                <a:cs typeface="Calibri"/>
              </a:rPr>
              <a:t>virtualenv</a:t>
            </a:r>
            <a:endParaRPr lang="en-US" sz="1600" b="1" dirty="0">
              <a:ea typeface="Calibri"/>
              <a:cs typeface="Calibri"/>
            </a:endParaRPr>
          </a:p>
          <a:p>
            <a:r>
              <a:rPr lang="en-US" sz="1600" b="1" dirty="0" err="1">
                <a:ea typeface="Calibri"/>
                <a:cs typeface="Calibri"/>
              </a:rPr>
              <a:t>Virtualenv</a:t>
            </a:r>
            <a:r>
              <a:rPr lang="en-US" sz="1600" b="1" dirty="0">
                <a:ea typeface="Calibri"/>
                <a:cs typeface="Calibri"/>
              </a:rPr>
              <a:t> &lt;</a:t>
            </a:r>
            <a:r>
              <a:rPr lang="en-US" sz="1600" b="1" dirty="0" err="1">
                <a:ea typeface="Calibri"/>
                <a:cs typeface="Calibri"/>
              </a:rPr>
              <a:t>Folder_Name</a:t>
            </a:r>
            <a:r>
              <a:rPr lang="en-US" sz="1600" b="1" dirty="0">
                <a:ea typeface="Calibri"/>
                <a:cs typeface="Calibri"/>
              </a:rPr>
              <a:t>&gt;</a:t>
            </a:r>
          </a:p>
        </p:txBody>
      </p:sp>
    </p:spTree>
    <p:extLst>
      <p:ext uri="{BB962C8B-B14F-4D97-AF65-F5344CB8AC3E}">
        <p14:creationId xmlns:p14="http://schemas.microsoft.com/office/powerpoint/2010/main" val="457166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dirty="0"/>
              <a:t>Python Basic Data types</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fontScale="92500" lnSpcReduction="20000"/>
          </a:bodyPr>
          <a:lstStyle/>
          <a:p>
            <a:r>
              <a:rPr lang="en-US" sz="1600" dirty="0">
                <a:ea typeface="Calibri"/>
                <a:cs typeface="Calibri"/>
              </a:rPr>
              <a:t>Lists – Ordered sequences of elements which are mutable</a:t>
            </a:r>
          </a:p>
          <a:p>
            <a:r>
              <a:rPr lang="en-US" sz="1600" dirty="0">
                <a:ea typeface="Calibri"/>
                <a:cs typeface="Calibri"/>
              </a:rPr>
              <a:t>Sets – Collections of unordered elements which are immutable</a:t>
            </a:r>
          </a:p>
          <a:p>
            <a:r>
              <a:rPr lang="en-US" sz="1600" dirty="0">
                <a:ea typeface="Calibri"/>
                <a:cs typeface="Calibri"/>
              </a:rPr>
              <a:t>Tuples – Similar to sets but use parentheses and also mutable. </a:t>
            </a:r>
          </a:p>
          <a:p>
            <a:endParaRPr lang="en-US" sz="1600" dirty="0">
              <a:ea typeface="Calibri"/>
              <a:cs typeface="Calibri"/>
            </a:endParaRPr>
          </a:p>
          <a:p>
            <a:r>
              <a:rPr lang="en-US" sz="1600" dirty="0">
                <a:ea typeface="Calibri"/>
                <a:cs typeface="Calibri"/>
              </a:rPr>
              <a:t>Sequences: </a:t>
            </a:r>
          </a:p>
          <a:p>
            <a:pPr marL="342900" indent="-342900">
              <a:buAutoNum type="alphaLcParenR"/>
            </a:pPr>
            <a:r>
              <a:rPr lang="en-US" sz="1600" dirty="0">
                <a:ea typeface="Calibri"/>
                <a:cs typeface="Calibri"/>
              </a:rPr>
              <a:t>String: str()</a:t>
            </a:r>
          </a:p>
          <a:p>
            <a:pPr marL="342900" indent="-342900">
              <a:buAutoNum type="alphaLcParenR"/>
            </a:pPr>
            <a:r>
              <a:rPr lang="en-US" sz="1600" dirty="0">
                <a:ea typeface="Calibri"/>
                <a:cs typeface="Calibri"/>
              </a:rPr>
              <a:t>List: list()</a:t>
            </a:r>
          </a:p>
          <a:p>
            <a:pPr marL="342900" indent="-342900">
              <a:buAutoNum type="alphaLcParenR"/>
            </a:pPr>
            <a:r>
              <a:rPr lang="en-US" sz="1600" dirty="0">
                <a:ea typeface="Calibri"/>
                <a:cs typeface="Calibri"/>
              </a:rPr>
              <a:t>Tuple: tuple()</a:t>
            </a:r>
          </a:p>
          <a:p>
            <a:pPr marL="342900" indent="-342900">
              <a:buAutoNum type="alphaLcParenR"/>
            </a:pPr>
            <a:r>
              <a:rPr lang="en-US" sz="1600" dirty="0">
                <a:ea typeface="Calibri"/>
                <a:cs typeface="Calibri"/>
              </a:rPr>
              <a:t>Range: range()</a:t>
            </a:r>
          </a:p>
          <a:p>
            <a:r>
              <a:rPr lang="en-US" sz="1600" dirty="0">
                <a:ea typeface="Calibri"/>
                <a:cs typeface="Calibri"/>
              </a:rPr>
              <a:t>Mapping: </a:t>
            </a:r>
          </a:p>
          <a:p>
            <a:pPr marL="0" indent="0">
              <a:buNone/>
            </a:pPr>
            <a:r>
              <a:rPr lang="en-US" sz="1600" dirty="0">
                <a:ea typeface="Calibri"/>
                <a:cs typeface="Calibri"/>
              </a:rPr>
              <a:t>e) Dictionary: </a:t>
            </a:r>
            <a:r>
              <a:rPr lang="en-US" sz="1600" dirty="0" err="1">
                <a:ea typeface="Calibri"/>
                <a:cs typeface="Calibri"/>
              </a:rPr>
              <a:t>dict</a:t>
            </a:r>
            <a:r>
              <a:rPr lang="en-US" sz="1600" dirty="0">
                <a:ea typeface="Calibri"/>
                <a:cs typeface="Calibri"/>
              </a:rPr>
              <a:t>()</a:t>
            </a:r>
          </a:p>
          <a:p>
            <a:r>
              <a:rPr lang="en-US" sz="1600" dirty="0">
                <a:ea typeface="Calibri"/>
                <a:cs typeface="Calibri"/>
              </a:rPr>
              <a:t>Set: set()</a:t>
            </a:r>
          </a:p>
          <a:p>
            <a:r>
              <a:rPr lang="en-US" sz="1600" dirty="0">
                <a:ea typeface="Calibri"/>
                <a:cs typeface="Calibri"/>
              </a:rPr>
              <a:t>Numbers: </a:t>
            </a:r>
          </a:p>
          <a:p>
            <a:r>
              <a:rPr lang="en-US" sz="1600" dirty="0">
                <a:ea typeface="Calibri"/>
                <a:cs typeface="Calibri"/>
              </a:rPr>
              <a:t>f) Integer: int()</a:t>
            </a:r>
          </a:p>
          <a:p>
            <a:r>
              <a:rPr lang="en-US" sz="1600" dirty="0">
                <a:ea typeface="Calibri"/>
                <a:cs typeface="Calibri"/>
              </a:rPr>
              <a:t>g) Boolean: bool()</a:t>
            </a:r>
          </a:p>
          <a:p>
            <a:r>
              <a:rPr lang="en-US" sz="1600" dirty="0">
                <a:ea typeface="Calibri"/>
                <a:cs typeface="Calibri"/>
              </a:rPr>
              <a:t>h)float: float()</a:t>
            </a:r>
          </a:p>
          <a:p>
            <a:endParaRPr lang="en-US" sz="1600" dirty="0"/>
          </a:p>
        </p:txBody>
      </p:sp>
    </p:spTree>
    <p:extLst>
      <p:ext uri="{BB962C8B-B14F-4D97-AF65-F5344CB8AC3E}">
        <p14:creationId xmlns:p14="http://schemas.microsoft.com/office/powerpoint/2010/main" val="2863695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876693" y="741391"/>
            <a:ext cx="3455821" cy="1616203"/>
          </a:xfrm>
        </p:spPr>
        <p:txBody>
          <a:bodyPr anchor="b">
            <a:normAutofit/>
          </a:bodyPr>
          <a:lstStyle/>
          <a:p>
            <a:r>
              <a:rPr lang="en-US" sz="3200"/>
              <a:t>Python variables </a:t>
            </a:r>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876693" y="2533476"/>
            <a:ext cx="3455821" cy="3447832"/>
          </a:xfrm>
        </p:spPr>
        <p:txBody>
          <a:bodyPr vert="horz" lIns="91440" tIns="45720" rIns="91440" bIns="45720" rtlCol="0" anchor="t">
            <a:normAutofit/>
          </a:bodyPr>
          <a:lstStyle/>
          <a:p>
            <a:r>
              <a:rPr lang="en-US" sz="2000" dirty="0"/>
              <a:t>A python variable is like a container which stores data temporarily. </a:t>
            </a:r>
          </a:p>
          <a:p>
            <a:r>
              <a:rPr lang="en-US" sz="2000" dirty="0"/>
              <a:t>Variables keep values accessible. </a:t>
            </a:r>
          </a:p>
          <a:p>
            <a:r>
              <a:rPr lang="en-US" sz="2000" dirty="0"/>
              <a:t>Variables make changes easy </a:t>
            </a:r>
          </a:p>
          <a:p>
            <a:r>
              <a:rPr lang="en-US" sz="2000" dirty="0"/>
              <a:t>Variables have data types. </a:t>
            </a:r>
            <a:br>
              <a:rPr lang="en-US" sz="2000" dirty="0"/>
            </a:b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a:p>
            <a:pPr>
              <a:buFont typeface="Wingdings" panose="020B0604020202020204" pitchFamily="34" charset="0"/>
              <a:buChar char="q"/>
            </a:pPr>
            <a:endParaRPr lang="en-US" sz="2000" dirty="0">
              <a:ea typeface="Calibri"/>
              <a:cs typeface="Calibri"/>
            </a:endParaRPr>
          </a:p>
        </p:txBody>
      </p:sp>
      <p:pic>
        <p:nvPicPr>
          <p:cNvPr id="4" name="Picture 3">
            <a:extLst>
              <a:ext uri="{FF2B5EF4-FFF2-40B4-BE49-F238E27FC236}">
                <a16:creationId xmlns:a16="http://schemas.microsoft.com/office/drawing/2014/main" id="{F43AE9BA-B5F8-1E6A-FBEA-11E278937083}"/>
              </a:ext>
            </a:extLst>
          </p:cNvPr>
          <p:cNvPicPr>
            <a:picLocks noChangeAspect="1"/>
          </p:cNvPicPr>
          <p:nvPr/>
        </p:nvPicPr>
        <p:blipFill>
          <a:blip r:embed="rId2"/>
          <a:stretch>
            <a:fillRect/>
          </a:stretch>
        </p:blipFill>
        <p:spPr>
          <a:xfrm>
            <a:off x="5005632" y="741391"/>
            <a:ext cx="6353425" cy="5384528"/>
          </a:xfrm>
          <a:prstGeom prst="rect">
            <a:avLst/>
          </a:prstGeom>
        </p:spPr>
      </p:pic>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80454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Python Operators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400" dirty="0">
                <a:ea typeface="Calibri"/>
                <a:cs typeface="Calibri"/>
              </a:rPr>
              <a:t>Operators in Python are used to perform operations on variables and values. They are the following types – </a:t>
            </a:r>
          </a:p>
          <a:p>
            <a:endParaRPr lang="en-US" sz="1400" dirty="0">
              <a:ea typeface="Calibri"/>
              <a:cs typeface="Calibri"/>
            </a:endParaRPr>
          </a:p>
          <a:p>
            <a:r>
              <a:rPr lang="en-US" sz="1400" dirty="0">
                <a:ea typeface="Calibri"/>
                <a:cs typeface="Calibri"/>
              </a:rPr>
              <a:t>Arithmetic operators </a:t>
            </a:r>
          </a:p>
          <a:p>
            <a:r>
              <a:rPr lang="en-US" sz="1400" dirty="0">
                <a:ea typeface="Calibri"/>
                <a:cs typeface="Calibri"/>
              </a:rPr>
              <a:t>Assignment operators </a:t>
            </a:r>
          </a:p>
          <a:p>
            <a:r>
              <a:rPr lang="en-US" sz="1400" dirty="0">
                <a:ea typeface="Calibri"/>
                <a:cs typeface="Calibri"/>
              </a:rPr>
              <a:t>Comparison operators </a:t>
            </a:r>
          </a:p>
          <a:p>
            <a:r>
              <a:rPr lang="en-US" sz="1400" dirty="0">
                <a:ea typeface="Calibri"/>
                <a:cs typeface="Calibri"/>
              </a:rPr>
              <a:t>Logical operators </a:t>
            </a:r>
          </a:p>
          <a:p>
            <a:r>
              <a:rPr lang="en-US" sz="1400" dirty="0">
                <a:ea typeface="Calibri"/>
                <a:cs typeface="Calibri"/>
              </a:rPr>
              <a:t>Identity operators </a:t>
            </a:r>
          </a:p>
          <a:p>
            <a:r>
              <a:rPr lang="en-US" sz="1400" dirty="0" err="1">
                <a:ea typeface="Calibri"/>
                <a:cs typeface="Calibri"/>
              </a:rPr>
              <a:t>Memebership</a:t>
            </a:r>
            <a:r>
              <a:rPr lang="en-US" sz="1400" dirty="0">
                <a:ea typeface="Calibri"/>
                <a:cs typeface="Calibri"/>
              </a:rPr>
              <a:t> operators </a:t>
            </a:r>
          </a:p>
        </p:txBody>
      </p:sp>
    </p:spTree>
    <p:extLst>
      <p:ext uri="{BB962C8B-B14F-4D97-AF65-F5344CB8AC3E}">
        <p14:creationId xmlns:p14="http://schemas.microsoft.com/office/powerpoint/2010/main" val="256235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dirty="0">
                <a:ea typeface="Calibri Light"/>
                <a:cs typeface="Calibri Light"/>
              </a:rPr>
              <a:t>Loops in Python</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endParaRPr lang="en-US" sz="1200" dirty="0">
              <a:solidFill>
                <a:srgbClr val="161616"/>
              </a:solidFill>
              <a:highlight>
                <a:srgbClr val="FFFFFF"/>
              </a:highlight>
              <a:latin typeface="Segoe UI"/>
              <a:ea typeface="Calibri"/>
              <a:cs typeface="Segoe UI"/>
            </a:endParaRPr>
          </a:p>
          <a:p>
            <a:r>
              <a:rPr lang="en-US" b="1" dirty="0"/>
              <a:t>For Loop </a:t>
            </a:r>
          </a:p>
          <a:p>
            <a:r>
              <a:rPr lang="en-US" sz="1200" dirty="0">
                <a:solidFill>
                  <a:srgbClr val="161616"/>
                </a:solidFill>
                <a:highlight>
                  <a:srgbClr val="FFFFFF"/>
                </a:highlight>
                <a:latin typeface="Segoe UI"/>
                <a:cs typeface="Segoe UI"/>
              </a:rPr>
              <a:t>The for loop lets you run a block of code of each item in an </a:t>
            </a:r>
            <a:r>
              <a:rPr lang="en-US" sz="1200" dirty="0" err="1">
                <a:solidFill>
                  <a:srgbClr val="161616"/>
                </a:solidFill>
                <a:highlight>
                  <a:srgbClr val="FFFFFF"/>
                </a:highlight>
                <a:latin typeface="Segoe UI"/>
                <a:cs typeface="Segoe UI"/>
              </a:rPr>
              <a:t>iterable</a:t>
            </a:r>
            <a:r>
              <a:rPr lang="en-US" sz="1200" dirty="0">
                <a:solidFill>
                  <a:srgbClr val="161616"/>
                </a:solidFill>
                <a:highlight>
                  <a:srgbClr val="FFFFFF"/>
                </a:highlight>
                <a:latin typeface="Segoe UI"/>
                <a:cs typeface="Segoe UI"/>
              </a:rPr>
              <a:t> like a list, string, tuple, set or dictionary. </a:t>
            </a: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a:p>
            <a:endParaRPr lang="en-US" sz="800" dirty="0">
              <a:highlight>
                <a:srgbClr val="1F1F1F"/>
              </a:highlight>
              <a:latin typeface="Segoe UI"/>
              <a:ea typeface="Calibri"/>
              <a:cs typeface="Segoe UI"/>
            </a:endParaRPr>
          </a:p>
        </p:txBody>
      </p:sp>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00BB4CC4-6DA7-A1A4-2ABE-98D5122821E4}"/>
              </a:ext>
            </a:extLst>
          </p:cNvPr>
          <p:cNvPicPr>
            <a:picLocks noChangeAspect="1"/>
          </p:cNvPicPr>
          <p:nvPr/>
        </p:nvPicPr>
        <p:blipFill>
          <a:blip r:embed="rId2"/>
          <a:stretch>
            <a:fillRect/>
          </a:stretch>
        </p:blipFill>
        <p:spPr>
          <a:xfrm>
            <a:off x="615779" y="2920475"/>
            <a:ext cx="7772400" cy="1017049"/>
          </a:xfrm>
          <a:prstGeom prst="rect">
            <a:avLst/>
          </a:prstGeom>
        </p:spPr>
      </p:pic>
      <p:sp>
        <p:nvSpPr>
          <p:cNvPr id="6" name="TextBox 5">
            <a:extLst>
              <a:ext uri="{FF2B5EF4-FFF2-40B4-BE49-F238E27FC236}">
                <a16:creationId xmlns:a16="http://schemas.microsoft.com/office/drawing/2014/main" id="{A03FCE4C-5111-8B94-DBB4-6BA650C61E01}"/>
              </a:ext>
            </a:extLst>
          </p:cNvPr>
          <p:cNvSpPr txBox="1"/>
          <p:nvPr/>
        </p:nvSpPr>
        <p:spPr>
          <a:xfrm>
            <a:off x="778476" y="4337222"/>
            <a:ext cx="8130746" cy="190821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For keyword</a:t>
            </a:r>
            <a:r>
              <a:rPr lang="en-US" sz="1600" dirty="0"/>
              <a:t>: This starts the loop. It tells python you want to begin the loop. </a:t>
            </a:r>
          </a:p>
          <a:p>
            <a:pPr marL="285750" indent="-285750">
              <a:buFont typeface="Arial" panose="020B0604020202020204" pitchFamily="34" charset="0"/>
              <a:buChar char="•"/>
            </a:pPr>
            <a:r>
              <a:rPr lang="en-US" sz="1600" b="1" dirty="0"/>
              <a:t>Loop variable </a:t>
            </a:r>
            <a:r>
              <a:rPr lang="en-US" sz="1600" dirty="0"/>
              <a:t>- </a:t>
            </a:r>
            <a:r>
              <a:rPr lang="en-IN" sz="1600" b="1" dirty="0"/>
              <a:t>n for </a:t>
            </a:r>
            <a:r>
              <a:rPr lang="en-IN" sz="1600" b="1" dirty="0" err="1"/>
              <a:t>ip</a:t>
            </a:r>
            <a:r>
              <a:rPr lang="en-IN" sz="1600" b="1" dirty="0"/>
              <a:t> in </a:t>
            </a:r>
            <a:r>
              <a:rPr lang="en-IN" sz="1600" b="1" dirty="0" err="1"/>
              <a:t>ip_list</a:t>
            </a:r>
            <a:r>
              <a:rPr lang="en-IN" sz="1600" dirty="0"/>
              <a:t>:, </a:t>
            </a:r>
            <a:r>
              <a:rPr lang="en-IN" sz="1600" dirty="0" err="1"/>
              <a:t>ip</a:t>
            </a:r>
            <a:r>
              <a:rPr lang="en-IN" sz="1600" dirty="0"/>
              <a:t> is the loop variable. It’s a temporary variable that represents each item in the </a:t>
            </a:r>
            <a:r>
              <a:rPr lang="en-IN" sz="1600" dirty="0" err="1"/>
              <a:t>iterable</a:t>
            </a:r>
            <a:r>
              <a:rPr lang="en-IN" sz="1600" dirty="0"/>
              <a:t> during each loop cycle.</a:t>
            </a:r>
          </a:p>
          <a:p>
            <a:pPr marL="285750" indent="-285750">
              <a:buFont typeface="Arial" panose="020B0604020202020204" pitchFamily="34" charset="0"/>
              <a:buChar char="•"/>
            </a:pPr>
            <a:r>
              <a:rPr lang="en-IN" sz="1600" b="1" dirty="0"/>
              <a:t>Looping object </a:t>
            </a:r>
            <a:r>
              <a:rPr lang="en-IN" sz="1600" dirty="0"/>
              <a:t>- </a:t>
            </a:r>
            <a:r>
              <a:rPr lang="en-IN" b="1" dirty="0"/>
              <a:t>(</a:t>
            </a:r>
            <a:r>
              <a:rPr lang="en-IN" b="1" dirty="0" err="1"/>
              <a:t>ip_list</a:t>
            </a:r>
            <a:r>
              <a:rPr lang="en-IN" b="1" dirty="0"/>
              <a:t>)</a:t>
            </a:r>
            <a:r>
              <a:rPr lang="en-IN" dirty="0"/>
              <a:t>: </a:t>
            </a:r>
            <a:r>
              <a:rPr lang="en-IN" sz="1600" dirty="0" err="1"/>
              <a:t>ip_list</a:t>
            </a:r>
            <a:r>
              <a:rPr lang="en-IN" sz="1600" dirty="0"/>
              <a:t> is the list you want to loop over. In each loop cycle, the loop variable </a:t>
            </a:r>
            <a:r>
              <a:rPr lang="en-IN" sz="1600" dirty="0" err="1"/>
              <a:t>ip</a:t>
            </a:r>
            <a:r>
              <a:rPr lang="en-IN" sz="1600" dirty="0"/>
              <a:t> takes the value of the next item in the list.</a:t>
            </a:r>
          </a:p>
          <a:p>
            <a:pPr marL="285750" indent="-285750">
              <a:buFont typeface="Arial" panose="020B0604020202020204" pitchFamily="34" charset="0"/>
              <a:buChar char="•"/>
            </a:pPr>
            <a:r>
              <a:rPr lang="en-IN" sz="1600" b="1" dirty="0"/>
              <a:t>Indented block </a:t>
            </a:r>
            <a:r>
              <a:rPr lang="en-IN" sz="1600" dirty="0"/>
              <a:t>- The indented code under the for loop is what runs in each loop cycle. Here, it’s print(</a:t>
            </a:r>
            <a:r>
              <a:rPr lang="en-IN" sz="1600" dirty="0" err="1"/>
              <a:t>ip</a:t>
            </a:r>
            <a:r>
              <a:rPr lang="en-IN" sz="1600" dirty="0"/>
              <a:t>).</a:t>
            </a:r>
            <a:endParaRPr lang="en-US" sz="1600" dirty="0"/>
          </a:p>
        </p:txBody>
      </p:sp>
    </p:spTree>
    <p:extLst>
      <p:ext uri="{BB962C8B-B14F-4D97-AF65-F5344CB8AC3E}">
        <p14:creationId xmlns:p14="http://schemas.microsoft.com/office/powerpoint/2010/main" val="606416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76693" y="741391"/>
            <a:ext cx="5219307" cy="1616203"/>
          </a:xfrm>
        </p:spPr>
        <p:txBody>
          <a:bodyPr anchor="b">
            <a:normAutofit/>
          </a:bodyPr>
          <a:lstStyle/>
          <a:p>
            <a:r>
              <a:rPr lang="en-US" sz="3200">
                <a:ea typeface="Calibri Light"/>
                <a:cs typeface="Calibri Light"/>
              </a:rPr>
              <a:t>Nesting Loops in Python</a:t>
            </a:r>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76692" y="2533476"/>
            <a:ext cx="5219307" cy="3537410"/>
          </a:xfrm>
        </p:spPr>
        <p:txBody>
          <a:bodyPr vert="horz" lIns="91440" tIns="45720" rIns="91440" bIns="45720" rtlCol="0" anchor="t">
            <a:normAutofit lnSpcReduction="10000"/>
          </a:bodyPr>
          <a:lstStyle/>
          <a:p>
            <a:r>
              <a:rPr lang="en-IN" sz="2000" b="1" dirty="0">
                <a:highlight>
                  <a:srgbClr val="FFFFFF"/>
                </a:highlight>
              </a:rPr>
              <a:t>Nesting loops </a:t>
            </a:r>
            <a:r>
              <a:rPr lang="en-IN" sz="2000" dirty="0">
                <a:highlight>
                  <a:srgbClr val="FFFFFF"/>
                </a:highlight>
              </a:rPr>
              <a:t>in Python means putting one loop inside another. This lets you create more complex patterns and work with multiple levels of data. </a:t>
            </a:r>
          </a:p>
          <a:p>
            <a:r>
              <a:rPr lang="en-IN" sz="2000" b="1" dirty="0">
                <a:highlight>
                  <a:srgbClr val="FFFFFF"/>
                </a:highlight>
              </a:rPr>
              <a:t>Outer Loop </a:t>
            </a:r>
            <a:r>
              <a:rPr lang="en-IN" sz="2000" dirty="0">
                <a:highlight>
                  <a:srgbClr val="FFFFFF"/>
                </a:highlight>
              </a:rPr>
              <a:t>– The outer for loop goes through </a:t>
            </a:r>
            <a:r>
              <a:rPr lang="en-IN" sz="2000" dirty="0" err="1">
                <a:highlight>
                  <a:srgbClr val="FFFFFF"/>
                </a:highlight>
              </a:rPr>
              <a:t>data_centers</a:t>
            </a:r>
            <a:r>
              <a:rPr lang="en-IN" sz="2000" dirty="0">
                <a:highlight>
                  <a:srgbClr val="FFFFFF"/>
                </a:highlight>
              </a:rPr>
              <a:t> list. In each </a:t>
            </a:r>
            <a:r>
              <a:rPr lang="en-IN" sz="2000" dirty="0" err="1">
                <a:highlight>
                  <a:srgbClr val="FFFFFF"/>
                </a:highlight>
              </a:rPr>
              <a:t>loop_cycle</a:t>
            </a:r>
            <a:r>
              <a:rPr lang="en-IN" sz="2000" dirty="0">
                <a:highlight>
                  <a:srgbClr val="FFFFFF"/>
                </a:highlight>
              </a:rPr>
              <a:t>, dc gets the first value of the tuple and </a:t>
            </a:r>
            <a:r>
              <a:rPr lang="en-IN" sz="2000" dirty="0" err="1">
                <a:highlight>
                  <a:srgbClr val="FFFFFF"/>
                </a:highlight>
              </a:rPr>
              <a:t>ip</a:t>
            </a:r>
            <a:r>
              <a:rPr lang="en-IN" sz="2000" dirty="0">
                <a:highlight>
                  <a:srgbClr val="FFFFFF"/>
                </a:highlight>
              </a:rPr>
              <a:t> gets the second value. </a:t>
            </a:r>
          </a:p>
          <a:p>
            <a:r>
              <a:rPr lang="en-IN" sz="2000" b="1" dirty="0">
                <a:highlight>
                  <a:srgbClr val="FFFFFF"/>
                </a:highlight>
              </a:rPr>
              <a:t>Inner for loop </a:t>
            </a:r>
            <a:r>
              <a:rPr lang="en-IN" sz="2000" dirty="0">
                <a:highlight>
                  <a:srgbClr val="FFFFFF"/>
                </a:highlight>
              </a:rPr>
              <a:t>– Inside the outer loop, there’s another for loop, the inner loop generates numbers 1 to 2. In each cycle of inner loop, </a:t>
            </a:r>
            <a:r>
              <a:rPr lang="en-IN" sz="2000" dirty="0" err="1">
                <a:highlight>
                  <a:srgbClr val="FFFFFF"/>
                </a:highlight>
              </a:rPr>
              <a:t>i</a:t>
            </a:r>
            <a:r>
              <a:rPr lang="en-IN" sz="2000" dirty="0">
                <a:highlight>
                  <a:srgbClr val="FFFFFF"/>
                </a:highlight>
              </a:rPr>
              <a:t> gets the number in the range.</a:t>
            </a:r>
          </a:p>
          <a:p>
            <a:endParaRPr lang="en-US" sz="2000" dirty="0">
              <a:latin typeface="Calibri"/>
              <a:ea typeface="Calibri"/>
              <a:cs typeface="Calibri"/>
            </a:endParaRPr>
          </a:p>
          <a:p>
            <a:endParaRPr lang="en-US" sz="2000" dirty="0">
              <a:latin typeface="Calibri"/>
              <a:ea typeface="Calibri"/>
              <a:cs typeface="Calibri"/>
            </a:endParaRPr>
          </a:p>
          <a:p>
            <a:endParaRPr lang="en-US" sz="2000" dirty="0">
              <a:ea typeface="Calibri"/>
              <a:cs typeface="Calibri"/>
            </a:endParaRPr>
          </a:p>
        </p:txBody>
      </p:sp>
      <p:pic>
        <p:nvPicPr>
          <p:cNvPr id="4" name="Picture 3">
            <a:extLst>
              <a:ext uri="{FF2B5EF4-FFF2-40B4-BE49-F238E27FC236}">
                <a16:creationId xmlns:a16="http://schemas.microsoft.com/office/drawing/2014/main" id="{A9B4D9FC-F4EC-9A86-8842-F88AA118F0EA}"/>
              </a:ext>
            </a:extLst>
          </p:cNvPr>
          <p:cNvPicPr>
            <a:picLocks noChangeAspect="1"/>
          </p:cNvPicPr>
          <p:nvPr/>
        </p:nvPicPr>
        <p:blipFill>
          <a:blip r:embed="rId2"/>
          <a:stretch>
            <a:fillRect/>
          </a:stretch>
        </p:blipFill>
        <p:spPr>
          <a:xfrm>
            <a:off x="7008019" y="3049730"/>
            <a:ext cx="4273463" cy="758539"/>
          </a:xfrm>
          <a:prstGeom prst="rect">
            <a:avLst/>
          </a:prstGeom>
        </p:spPr>
      </p:pic>
      <p:grpSp>
        <p:nvGrpSpPr>
          <p:cNvPr id="15" name="Group 14">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6" name="Rectangle 15">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3564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793662" y="386930"/>
            <a:ext cx="10066122" cy="1298448"/>
          </a:xfrm>
        </p:spPr>
        <p:txBody>
          <a:bodyPr anchor="b">
            <a:normAutofit/>
          </a:bodyPr>
          <a:lstStyle/>
          <a:p>
            <a:r>
              <a:rPr lang="en-US" sz="4800"/>
              <a:t>While Loop in Python</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793661" y="2599509"/>
            <a:ext cx="4530898" cy="3639450"/>
          </a:xfrm>
        </p:spPr>
        <p:txBody>
          <a:bodyPr vert="horz" lIns="91440" tIns="45720" rIns="91440" bIns="45720" rtlCol="0" anchor="ctr">
            <a:normAutofit/>
          </a:bodyPr>
          <a:lstStyle/>
          <a:p>
            <a:endParaRPr lang="en-US" sz="2000">
              <a:highlight>
                <a:srgbClr val="FFFFFF"/>
              </a:highlight>
              <a:ea typeface="Calibri"/>
              <a:cs typeface="Calibri"/>
            </a:endParaRPr>
          </a:p>
          <a:p>
            <a:endParaRPr lang="en-US" sz="2000">
              <a:highlight>
                <a:srgbClr val="FFFFFF"/>
              </a:highlight>
              <a:latin typeface="Segoe UI"/>
              <a:ea typeface="Calibri"/>
              <a:cs typeface="Segoe UI"/>
            </a:endParaRPr>
          </a:p>
          <a:p>
            <a:r>
              <a:rPr lang="en-US" sz="2000">
                <a:ea typeface="Calibri"/>
                <a:cs typeface="Calibri"/>
              </a:rPr>
              <a:t>A while loop is a powerful tool in Python lets you repeatedly run a block of code as long as certain condition is true. </a:t>
            </a:r>
          </a:p>
          <a:p>
            <a:r>
              <a:rPr lang="en-US" sz="2000">
                <a:ea typeface="Calibri"/>
                <a:cs typeface="Calibri"/>
              </a:rPr>
              <a:t>A while loop has an expression followed by a colon and an indented block of code. </a:t>
            </a:r>
          </a:p>
          <a:p>
            <a:endParaRPr lang="en-US" sz="2000">
              <a:ea typeface="Calibri"/>
              <a:cs typeface="Calibri"/>
            </a:endParaRPr>
          </a:p>
        </p:txBody>
      </p:sp>
      <p:pic>
        <p:nvPicPr>
          <p:cNvPr id="4" name="Picture 3">
            <a:extLst>
              <a:ext uri="{FF2B5EF4-FFF2-40B4-BE49-F238E27FC236}">
                <a16:creationId xmlns:a16="http://schemas.microsoft.com/office/drawing/2014/main" id="{D07882B3-2562-A390-D167-64A67FC9B4A0}"/>
              </a:ext>
            </a:extLst>
          </p:cNvPr>
          <p:cNvPicPr>
            <a:picLocks noChangeAspect="1"/>
          </p:cNvPicPr>
          <p:nvPr/>
        </p:nvPicPr>
        <p:blipFill>
          <a:blip r:embed="rId2"/>
          <a:stretch>
            <a:fillRect/>
          </a:stretch>
        </p:blipFill>
        <p:spPr>
          <a:xfrm>
            <a:off x="5911532" y="3639651"/>
            <a:ext cx="5150277" cy="1403451"/>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16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Difference between For &amp; While Loop</a:t>
            </a:r>
          </a:p>
        </p:txBody>
      </p:sp>
      <p:pic>
        <p:nvPicPr>
          <p:cNvPr id="5" name="Content Placeholder 4">
            <a:extLst>
              <a:ext uri="{FF2B5EF4-FFF2-40B4-BE49-F238E27FC236}">
                <a16:creationId xmlns:a16="http://schemas.microsoft.com/office/drawing/2014/main" id="{F5B9D339-41C9-1DB9-9CFD-C592FDEFCE94}"/>
              </a:ext>
            </a:extLst>
          </p:cNvPr>
          <p:cNvPicPr>
            <a:picLocks noGrp="1" noChangeAspect="1"/>
          </p:cNvPicPr>
          <p:nvPr>
            <p:ph idx="1"/>
          </p:nvPr>
        </p:nvPicPr>
        <p:blipFill>
          <a:blip r:embed="rId2"/>
          <a:stretch>
            <a:fillRect/>
          </a:stretch>
        </p:blipFill>
        <p:spPr>
          <a:xfrm>
            <a:off x="643467" y="1704945"/>
            <a:ext cx="10905066" cy="4334763"/>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sz="3600" dirty="0">
                <a:solidFill>
                  <a:schemeClr val="tx1">
                    <a:lumMod val="85000"/>
                    <a:lumOff val="15000"/>
                  </a:schemeClr>
                </a:solidFill>
                <a:ea typeface="Calibri Light"/>
                <a:cs typeface="Calibri Light"/>
              </a:rPr>
              <a:t>Object Oriented Programming(OOPS) Concepts </a:t>
            </a:r>
          </a:p>
        </p:txBody>
      </p:sp>
      <p:sp>
        <p:nvSpPr>
          <p:cNvPr id="3" name="Content Placeholder 2">
            <a:extLst>
              <a:ext uri="{FF2B5EF4-FFF2-40B4-BE49-F238E27FC236}">
                <a16:creationId xmlns:a16="http://schemas.microsoft.com/office/drawing/2014/main" id="{4245BC49-D8D9-1850-23D6-F9DEDD4FA571}"/>
              </a:ext>
            </a:extLst>
          </p:cNvPr>
          <p:cNvSpPr>
            <a:spLocks noGrp="1"/>
          </p:cNvSpPr>
          <p:nvPr>
            <p:ph idx="1"/>
          </p:nvPr>
        </p:nvSpPr>
        <p:spPr>
          <a:xfrm>
            <a:off x="1138478" y="2029199"/>
            <a:ext cx="10302155" cy="3722597"/>
          </a:xfrm>
        </p:spPr>
        <p:txBody>
          <a:bodyPr anchor="ctr">
            <a:normAutofit/>
          </a:bodyPr>
          <a:lstStyle/>
          <a:p>
            <a:r>
              <a:rPr lang="en-US" sz="1600" dirty="0">
                <a:solidFill>
                  <a:srgbClr val="0A0A0A"/>
                </a:solidFill>
                <a:highlight>
                  <a:srgbClr val="FFFFFF"/>
                </a:highlight>
                <a:ea typeface="Calibri"/>
                <a:cs typeface="Calibri"/>
              </a:rPr>
              <a:t>OOPs in Python is a paradigm which organizes the software design around objects, real world entities with specific data &amp; objects. </a:t>
            </a:r>
          </a:p>
          <a:p>
            <a:endParaRPr lang="en-US" sz="1600" dirty="0">
              <a:solidFill>
                <a:srgbClr val="0A0A0A"/>
              </a:solidFill>
              <a:highlight>
                <a:srgbClr val="FFFFFF"/>
              </a:highlight>
              <a:ea typeface="Calibri"/>
              <a:cs typeface="Calibri"/>
            </a:endParaRPr>
          </a:p>
          <a:p>
            <a:r>
              <a:rPr lang="en-US" sz="1600" b="1" dirty="0">
                <a:solidFill>
                  <a:srgbClr val="0A0A0A"/>
                </a:solidFill>
                <a:highlight>
                  <a:srgbClr val="FFFFFF"/>
                </a:highlight>
                <a:ea typeface="Calibri"/>
                <a:cs typeface="Calibri"/>
              </a:rPr>
              <a:t>Inheritance</a:t>
            </a:r>
            <a:r>
              <a:rPr lang="en-US" sz="1600" dirty="0">
                <a:solidFill>
                  <a:srgbClr val="0A0A0A"/>
                </a:solidFill>
                <a:highlight>
                  <a:srgbClr val="FFFFFF"/>
                </a:highlight>
                <a:ea typeface="Calibri"/>
                <a:cs typeface="Calibri"/>
              </a:rPr>
              <a:t> - </a:t>
            </a:r>
            <a:r>
              <a:rPr lang="en-IN" sz="1600" dirty="0"/>
              <a:t>Allows a "child" class to derive attributes and methods from a "parent" class, promoting code reusability</a:t>
            </a:r>
            <a:r>
              <a:rPr lang="en-IN" dirty="0"/>
              <a:t>.</a:t>
            </a:r>
            <a:r>
              <a:rPr lang="en-US" sz="1600" dirty="0">
                <a:solidFill>
                  <a:srgbClr val="0A0A0A"/>
                </a:solidFill>
                <a:highlight>
                  <a:srgbClr val="FFFFFF"/>
                </a:highlight>
                <a:ea typeface="Calibri"/>
                <a:cs typeface="Calibri"/>
              </a:rPr>
              <a:t> </a:t>
            </a:r>
          </a:p>
          <a:p>
            <a:r>
              <a:rPr lang="en-IN" sz="1600" b="1" dirty="0"/>
              <a:t>Encapsulation</a:t>
            </a:r>
            <a:r>
              <a:rPr lang="en-IN" sz="1600" dirty="0"/>
              <a:t>: Bundles data and methods into a single unit (the class) and restricts direct access to some components to protect the internal state</a:t>
            </a:r>
            <a:r>
              <a:rPr lang="en-IN" dirty="0"/>
              <a:t>.</a:t>
            </a:r>
          </a:p>
          <a:p>
            <a:r>
              <a:rPr lang="en-IN" sz="1600" b="1" dirty="0"/>
              <a:t>Polymorphism</a:t>
            </a:r>
            <a:r>
              <a:rPr lang="en-IN" sz="1600" dirty="0"/>
              <a:t> – Enables different classes to be treated as an instance of same general class through same interface. </a:t>
            </a:r>
          </a:p>
          <a:p>
            <a:r>
              <a:rPr lang="en-IN" sz="1600" b="1" dirty="0"/>
              <a:t>Abstraction</a:t>
            </a:r>
            <a:r>
              <a:rPr lang="en-IN" sz="1600" dirty="0"/>
              <a:t> – Hides complex implementation details &amp; shows only the essential features to the user </a:t>
            </a:r>
          </a:p>
          <a:p>
            <a:endParaRPr lang="en-US" sz="1600" dirty="0">
              <a:solidFill>
                <a:srgbClr val="0A0A0A"/>
              </a:solidFill>
              <a:highlight>
                <a:srgbClr val="FFFFFF"/>
              </a:highlight>
              <a:ea typeface="Calibri"/>
              <a:cs typeface="Calibri"/>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4103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dirty="0">
                <a:ea typeface="Calibri Light"/>
                <a:cs typeface="Calibri Light"/>
              </a:rPr>
              <a:t>Conditional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IN" sz="1600" dirty="0">
                <a:highlight>
                  <a:srgbClr val="FFFFFF"/>
                </a:highlight>
              </a:rPr>
              <a:t>Conditional statements in Python help control the flow of your program. They let you run specific blocks of code based on whether certain conditions are true or false.</a:t>
            </a:r>
            <a:endParaRPr lang="en-US" sz="1600" dirty="0">
              <a:solidFill>
                <a:srgbClr val="161616"/>
              </a:solidFill>
              <a:highlight>
                <a:srgbClr val="FFFFFF"/>
              </a:highlight>
              <a:ea typeface="Calibri"/>
              <a:cs typeface="Segoe UI"/>
            </a:endParaRPr>
          </a:p>
          <a:p>
            <a:r>
              <a:rPr lang="en-US" sz="1500" dirty="0">
                <a:ea typeface="Calibri"/>
                <a:cs typeface="Calibri"/>
              </a:rPr>
              <a:t>If statement: This runs a block of code if a condition is true. </a:t>
            </a:r>
          </a:p>
          <a:p>
            <a:r>
              <a:rPr lang="en-US" sz="1500" dirty="0">
                <a:ea typeface="Calibri"/>
                <a:cs typeface="Calibri"/>
              </a:rPr>
              <a:t>Elif statement: This checks multiple conditions one after another, if one condition is true , it runs the corresponding block of code. </a:t>
            </a:r>
          </a:p>
          <a:p>
            <a:r>
              <a:rPr lang="en-US" sz="1500" dirty="0">
                <a:ea typeface="Calibri"/>
                <a:cs typeface="Calibri"/>
              </a:rPr>
              <a:t>Else statement: this statement runs a block of code if none of the previous conditions are true. </a:t>
            </a:r>
          </a:p>
        </p:txBody>
      </p:sp>
    </p:spTree>
    <p:extLst>
      <p:ext uri="{BB962C8B-B14F-4D97-AF65-F5344CB8AC3E}">
        <p14:creationId xmlns:p14="http://schemas.microsoft.com/office/powerpoint/2010/main" val="1074499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dirty="0"/>
              <a:t>Truthy &amp; </a:t>
            </a:r>
            <a:r>
              <a:rPr lang="en-US" dirty="0" err="1"/>
              <a:t>Falsy</a:t>
            </a:r>
            <a:r>
              <a:rPr lang="en-US" dirty="0"/>
              <a:t> Values in Python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lnSpcReduction="10000"/>
          </a:bodyPr>
          <a:lstStyle/>
          <a:p>
            <a:r>
              <a:rPr lang="en-US" sz="1600" dirty="0">
                <a:solidFill>
                  <a:srgbClr val="0A0A0A"/>
                </a:solidFill>
                <a:highlight>
                  <a:srgbClr val="FFFFFF"/>
                </a:highlight>
                <a:ea typeface="+mn-lt"/>
                <a:cs typeface="+mn-lt"/>
              </a:rPr>
              <a:t>In Python, every value is either truthy or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Truthy values are considered True in conditions, while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are considered False. </a:t>
            </a:r>
          </a:p>
          <a:p>
            <a:endParaRPr lang="en-US" sz="1600" dirty="0">
              <a:solidFill>
                <a:srgbClr val="0A0A0A"/>
              </a:solidFill>
              <a:highlight>
                <a:srgbClr val="FFFFFF"/>
              </a:highlight>
              <a:ea typeface="+mn-lt"/>
              <a:cs typeface="+mn-lt"/>
            </a:endParaRPr>
          </a:p>
          <a:p>
            <a:r>
              <a:rPr lang="en-US" sz="1600" b="1" dirty="0">
                <a:solidFill>
                  <a:srgbClr val="0A0A0A"/>
                </a:solidFill>
                <a:highlight>
                  <a:srgbClr val="FFFFFF"/>
                </a:highlight>
                <a:ea typeface="+mn-lt"/>
                <a:cs typeface="+mn-lt"/>
              </a:rPr>
              <a:t>Common truthy values</a:t>
            </a:r>
            <a:r>
              <a:rPr lang="en-US" sz="1600" dirty="0">
                <a:solidFill>
                  <a:srgbClr val="0A0A0A"/>
                </a:solidFill>
                <a:highlight>
                  <a:srgbClr val="FFFFFF"/>
                </a:highlight>
                <a:ea typeface="+mn-lt"/>
                <a:cs typeface="+mn-lt"/>
              </a:rPr>
              <a:t>: </a:t>
            </a:r>
          </a:p>
          <a:p>
            <a:r>
              <a:rPr lang="en-US" sz="1600" dirty="0">
                <a:solidFill>
                  <a:srgbClr val="0A0A0A"/>
                </a:solidFill>
                <a:highlight>
                  <a:srgbClr val="FFFFFF"/>
                </a:highlight>
                <a:ea typeface="+mn-lt"/>
                <a:cs typeface="+mn-lt"/>
              </a:rPr>
              <a:t>Non-zero numbers </a:t>
            </a:r>
          </a:p>
          <a:p>
            <a:r>
              <a:rPr lang="en-US" sz="1600" dirty="0">
                <a:solidFill>
                  <a:srgbClr val="0A0A0A"/>
                </a:solidFill>
                <a:highlight>
                  <a:srgbClr val="FFFFFF"/>
                </a:highlight>
                <a:ea typeface="+mn-lt"/>
                <a:cs typeface="+mn-lt"/>
              </a:rPr>
              <a:t>Non-empty strings</a:t>
            </a:r>
          </a:p>
          <a:p>
            <a:r>
              <a:rPr lang="en-US" sz="1600" dirty="0">
                <a:solidFill>
                  <a:srgbClr val="0A0A0A"/>
                </a:solidFill>
                <a:highlight>
                  <a:srgbClr val="FFFFFF"/>
                </a:highlight>
                <a:ea typeface="+mn-lt"/>
                <a:cs typeface="+mn-lt"/>
              </a:rPr>
              <a:t>Non-empty collections </a:t>
            </a:r>
          </a:p>
          <a:p>
            <a:endParaRPr lang="en-US" sz="1600" dirty="0">
              <a:solidFill>
                <a:srgbClr val="0A0A0A"/>
              </a:solidFill>
              <a:highlight>
                <a:srgbClr val="FFFFFF"/>
              </a:highlight>
              <a:ea typeface="+mn-lt"/>
              <a:cs typeface="+mn-lt"/>
            </a:endParaRPr>
          </a:p>
          <a:p>
            <a:r>
              <a:rPr lang="en-US" sz="1600" dirty="0">
                <a:solidFill>
                  <a:srgbClr val="0A0A0A"/>
                </a:solidFill>
                <a:highlight>
                  <a:srgbClr val="FFFFFF"/>
                </a:highlight>
                <a:ea typeface="+mn-lt"/>
                <a:cs typeface="+mn-lt"/>
              </a:rPr>
              <a:t>Common </a:t>
            </a:r>
            <a:r>
              <a:rPr lang="en-US" sz="1600" dirty="0" err="1">
                <a:solidFill>
                  <a:srgbClr val="0A0A0A"/>
                </a:solidFill>
                <a:highlight>
                  <a:srgbClr val="FFFFFF"/>
                </a:highlight>
                <a:ea typeface="+mn-lt"/>
                <a:cs typeface="+mn-lt"/>
              </a:rPr>
              <a:t>falsy</a:t>
            </a:r>
            <a:r>
              <a:rPr lang="en-US" sz="1600" dirty="0">
                <a:solidFill>
                  <a:srgbClr val="0A0A0A"/>
                </a:solidFill>
                <a:highlight>
                  <a:srgbClr val="FFFFFF"/>
                </a:highlight>
                <a:ea typeface="+mn-lt"/>
                <a:cs typeface="+mn-lt"/>
              </a:rPr>
              <a:t> values: </a:t>
            </a:r>
          </a:p>
          <a:p>
            <a:r>
              <a:rPr lang="en-US" sz="1600" dirty="0">
                <a:solidFill>
                  <a:srgbClr val="0A0A0A"/>
                </a:solidFill>
                <a:highlight>
                  <a:srgbClr val="FFFFFF"/>
                </a:highlight>
                <a:ea typeface="+mn-lt"/>
                <a:cs typeface="+mn-lt"/>
              </a:rPr>
              <a:t>0 (zero)</a:t>
            </a:r>
          </a:p>
          <a:p>
            <a:r>
              <a:rPr lang="en-US" sz="1600" dirty="0">
                <a:solidFill>
                  <a:srgbClr val="0A0A0A"/>
                </a:solidFill>
                <a:highlight>
                  <a:srgbClr val="FFFFFF"/>
                </a:highlight>
                <a:ea typeface="+mn-lt"/>
                <a:cs typeface="+mn-lt"/>
              </a:rPr>
              <a:t>0.0 (zero float)</a:t>
            </a:r>
          </a:p>
          <a:p>
            <a:r>
              <a:rPr lang="en-US" sz="1600" dirty="0">
                <a:solidFill>
                  <a:srgbClr val="0A0A0A"/>
                </a:solidFill>
                <a:highlight>
                  <a:srgbClr val="FFFFFF"/>
                </a:highlight>
                <a:ea typeface="+mn-lt"/>
                <a:cs typeface="+mn-lt"/>
              </a:rPr>
              <a:t>‘’ (empty string)</a:t>
            </a:r>
          </a:p>
          <a:p>
            <a:r>
              <a:rPr lang="en-US" sz="1600" dirty="0">
                <a:solidFill>
                  <a:srgbClr val="0A0A0A"/>
                </a:solidFill>
                <a:highlight>
                  <a:srgbClr val="FFFFFF"/>
                </a:highlight>
                <a:ea typeface="+mn-lt"/>
                <a:cs typeface="+mn-lt"/>
              </a:rPr>
              <a:t>None </a:t>
            </a:r>
          </a:p>
          <a:p>
            <a:r>
              <a:rPr lang="en-US" sz="1600" dirty="0">
                <a:solidFill>
                  <a:srgbClr val="0A0A0A"/>
                </a:solidFill>
                <a:highlight>
                  <a:srgbClr val="FFFFFF"/>
                </a:highlight>
                <a:ea typeface="+mn-lt"/>
                <a:cs typeface="+mn-lt"/>
              </a:rPr>
              <a:t>Empty collections (lists, dictionaries, sets)</a:t>
            </a:r>
          </a:p>
          <a:p>
            <a:endParaRPr lang="en-US" sz="1600" dirty="0">
              <a:solidFill>
                <a:srgbClr val="0A0A0A"/>
              </a:solidFill>
              <a:highlight>
                <a:srgbClr val="FFFFFF"/>
              </a:highlight>
              <a:ea typeface="+mn-lt"/>
              <a:cs typeface="+mn-lt"/>
            </a:endParaRPr>
          </a:p>
        </p:txBody>
      </p:sp>
    </p:spTree>
    <p:extLst>
      <p:ext uri="{BB962C8B-B14F-4D97-AF65-F5344CB8AC3E}">
        <p14:creationId xmlns:p14="http://schemas.microsoft.com/office/powerpoint/2010/main" val="2339224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ea typeface="Calibri Light"/>
                <a:cs typeface="Calibri Light"/>
              </a:rPr>
              <a:t>Python Lists </a:t>
            </a:r>
          </a:p>
        </p:txBody>
      </p:sp>
      <p:sp>
        <p:nvSpPr>
          <p:cNvPr id="4" name="Rectangle 1">
            <a:extLst>
              <a:ext uri="{FF2B5EF4-FFF2-40B4-BE49-F238E27FC236}">
                <a16:creationId xmlns:a16="http://schemas.microsoft.com/office/drawing/2014/main" id="{267384AF-46FD-3722-7F34-DF0658A6FFD7}"/>
              </a:ext>
            </a:extLst>
          </p:cNvPr>
          <p:cNvSpPr>
            <a:spLocks noGrp="1" noChangeArrowheads="1"/>
          </p:cNvSpPr>
          <p:nvPr>
            <p:ph idx="1"/>
          </p:nvPr>
        </p:nvSpPr>
        <p:spPr bwMode="auto">
          <a:xfrm>
            <a:off x="4235966" y="3544098"/>
            <a:ext cx="734288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Maintains Order</a:t>
            </a:r>
            <a:r>
              <a:rPr kumimoji="0" lang="en-US" altLang="en-US" sz="100" b="0" i="0" u="none" strike="noStrike" cap="none" normalizeH="0" baseline="0" dirty="0">
                <a:ln>
                  <a:noFill/>
                </a:ln>
                <a:solidFill>
                  <a:srgbClr val="CED6DD"/>
                </a:solidFill>
                <a:effectLst/>
                <a:latin typeface="-apple-system"/>
              </a:rPr>
              <a:t>: The order in which you add items is the order in which you can access them.</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Holds Mixed Data Types</a:t>
            </a:r>
            <a:r>
              <a:rPr kumimoji="0" lang="en-US" altLang="en-US" sz="100" b="0" i="0" u="none" strike="noStrike" cap="none" normalizeH="0" baseline="0" dirty="0">
                <a:ln>
                  <a:noFill/>
                </a:ln>
                <a:solidFill>
                  <a:srgbClr val="CED6DD"/>
                </a:solidFill>
                <a:effectLst/>
                <a:latin typeface="-apple-system"/>
              </a:rPr>
              <a:t>: You can mix different types of data in a single list, like strings, numbers, and more.</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 b="1" i="0" u="none" strike="noStrike" cap="none" normalizeH="0" baseline="0" dirty="0">
                <a:ln>
                  <a:noFill/>
                </a:ln>
                <a:solidFill>
                  <a:srgbClr val="CED6DD"/>
                </a:solidFill>
                <a:effectLst/>
                <a:latin typeface="-apple-system"/>
              </a:rPr>
              <a:t>Is Mutable</a:t>
            </a:r>
            <a:r>
              <a:rPr kumimoji="0" lang="en-US" altLang="en-US" sz="100" b="0" i="0" u="none" strike="noStrike" cap="none" normalizeH="0" baseline="0" dirty="0">
                <a:ln>
                  <a:noFill/>
                </a:ln>
                <a:solidFill>
                  <a:srgbClr val="CED6DD"/>
                </a:solidFill>
                <a:effectLst/>
                <a:latin typeface="-apple-system"/>
              </a:rPr>
              <a:t>: You can change the items, size, and structure of a list after creating it.</a:t>
            </a:r>
            <a:endParaRPr kumimoji="0" lang="en-US" altLang="en-US" sz="1200" b="0" i="0" u="none" strike="noStrike" cap="none" normalizeH="0" baseline="0" dirty="0">
              <a:ln>
                <a:noFill/>
              </a:ln>
              <a:solidFill>
                <a:srgbClr val="CED6DD"/>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A list is a collection of Items </a:t>
            </a:r>
          </a:p>
          <a:p>
            <a:pPr marR="0" lvl="0" algn="l" defTabSz="914400" rtl="0" eaLnBrk="0" fontAlgn="base" latinLnBrk="0" hangingPunct="0">
              <a:lnSpc>
                <a:spcPct val="100000"/>
              </a:lnSpc>
              <a:spcBef>
                <a:spcPct val="0"/>
              </a:spcBef>
              <a:spcAft>
                <a:spcPct val="0"/>
              </a:spcAft>
              <a:buClrTx/>
              <a:buSzTx/>
              <a:buFontTx/>
              <a:buChar char="-"/>
              <a:tabLst/>
            </a:pPr>
            <a:r>
              <a:rPr lang="en-US" altLang="en-US" sz="1600" b="1" dirty="0"/>
              <a:t>Which maintains order </a:t>
            </a:r>
            <a:r>
              <a:rPr lang="en-US" altLang="en-US" sz="1600" dirty="0"/>
              <a:t>– the order in which you add items in the order you can access them</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Holds Mixed Data types</a:t>
            </a:r>
            <a:r>
              <a:rPr kumimoji="0" lang="en-US" altLang="en-US" sz="1600" b="0" i="0" u="none" strike="noStrike" cap="none" normalizeH="0" baseline="0" dirty="0">
                <a:ln>
                  <a:noFill/>
                </a:ln>
                <a:solidFill>
                  <a:schemeClr val="tx1"/>
                </a:solidFill>
                <a:effectLst/>
              </a:rPr>
              <a:t> – You can mix different types of data in a single list like strings, numb</a:t>
            </a:r>
            <a:r>
              <a:rPr lang="en-US" altLang="en-US" sz="1600" dirty="0"/>
              <a:t>ers and more. </a:t>
            </a:r>
          </a:p>
          <a:p>
            <a:pPr marR="0" lvl="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Is Mutable </a:t>
            </a:r>
            <a:r>
              <a:rPr kumimoji="0" lang="en-US" altLang="en-US" sz="1600" b="0" i="0" u="none" strike="noStrike" cap="none" normalizeH="0" baseline="0" dirty="0">
                <a:ln>
                  <a:noFill/>
                </a:ln>
                <a:solidFill>
                  <a:schemeClr val="tx1"/>
                </a:solidFill>
                <a:effectLst/>
              </a:rPr>
              <a:t>– you can c</a:t>
            </a:r>
            <a:r>
              <a:rPr lang="en-US" altLang="en-US" sz="1600" dirty="0"/>
              <a:t>hange the items, size and structure of the list after creating it. </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91946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C16-5E79-1418-197A-470DD3E5B15E}"/>
              </a:ext>
            </a:extLst>
          </p:cNvPr>
          <p:cNvSpPr>
            <a:spLocks noGrp="1"/>
          </p:cNvSpPr>
          <p:nvPr>
            <p:ph type="title"/>
          </p:nvPr>
        </p:nvSpPr>
        <p:spPr/>
        <p:txBody>
          <a:bodyPr/>
          <a:lstStyle/>
          <a:p>
            <a:r>
              <a:rPr lang="en-US" dirty="0"/>
              <a:t>Tuples in Python</a:t>
            </a:r>
          </a:p>
        </p:txBody>
      </p:sp>
      <p:sp>
        <p:nvSpPr>
          <p:cNvPr id="3" name="Content Placeholder 2">
            <a:extLst>
              <a:ext uri="{FF2B5EF4-FFF2-40B4-BE49-F238E27FC236}">
                <a16:creationId xmlns:a16="http://schemas.microsoft.com/office/drawing/2014/main" id="{EB547054-5F3B-43FA-F090-76945D33D486}"/>
              </a:ext>
            </a:extLst>
          </p:cNvPr>
          <p:cNvSpPr>
            <a:spLocks noGrp="1"/>
          </p:cNvSpPr>
          <p:nvPr>
            <p:ph idx="1"/>
          </p:nvPr>
        </p:nvSpPr>
        <p:spPr/>
        <p:txBody>
          <a:bodyPr/>
          <a:lstStyle/>
          <a:p>
            <a:r>
              <a:rPr lang="en-IN" sz="1600" dirty="0"/>
              <a:t>A tuple is a collection of items that are ordered and can be of different types. You create a tuple using parentheses (), with items separated by commas</a:t>
            </a:r>
            <a:r>
              <a:rPr lang="en-IN" dirty="0"/>
              <a:t>.</a:t>
            </a:r>
          </a:p>
          <a:p>
            <a:endParaRPr lang="en-IN" dirty="0"/>
          </a:p>
          <a:p>
            <a:pPr marL="0" indent="0">
              <a:buNone/>
            </a:pPr>
            <a:r>
              <a:rPr lang="en-IN" sz="1800" dirty="0" err="1"/>
              <a:t>my_tuple</a:t>
            </a:r>
            <a:r>
              <a:rPr lang="en-IN" sz="1800" dirty="0"/>
              <a:t> = (1, "hello", 22, None, 2.7)</a:t>
            </a:r>
          </a:p>
          <a:p>
            <a:pPr marL="0" indent="0">
              <a:buNone/>
            </a:pPr>
            <a:endParaRPr lang="en-IN" dirty="0"/>
          </a:p>
          <a:p>
            <a:r>
              <a:rPr lang="en-IN" sz="1600" dirty="0"/>
              <a:t>Tuples can hold items of various types. In the example above, </a:t>
            </a:r>
            <a:r>
              <a:rPr lang="en-IN" sz="1600" dirty="0" err="1"/>
              <a:t>my_tuple</a:t>
            </a:r>
            <a:r>
              <a:rPr lang="en-IN" sz="1600" dirty="0"/>
              <a:t> includes integers, a string, None, and a floating-point number. This makes tuples very flexible</a:t>
            </a:r>
            <a:r>
              <a:rPr lang="en-IN" dirty="0"/>
              <a:t>.</a:t>
            </a:r>
            <a:endParaRPr lang="en-US" dirty="0"/>
          </a:p>
        </p:txBody>
      </p:sp>
    </p:spTree>
    <p:extLst>
      <p:ext uri="{BB962C8B-B14F-4D97-AF65-F5344CB8AC3E}">
        <p14:creationId xmlns:p14="http://schemas.microsoft.com/office/powerpoint/2010/main" val="1350696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D3DA-2A50-0F45-5423-6BB7994E132F}"/>
              </a:ext>
            </a:extLst>
          </p:cNvPr>
          <p:cNvSpPr>
            <a:spLocks noGrp="1"/>
          </p:cNvSpPr>
          <p:nvPr>
            <p:ph type="title"/>
          </p:nvPr>
        </p:nvSpPr>
        <p:spPr/>
        <p:txBody>
          <a:bodyPr/>
          <a:lstStyle/>
          <a:p>
            <a:r>
              <a:rPr lang="en-US" dirty="0"/>
              <a:t>Sets in Python</a:t>
            </a:r>
          </a:p>
        </p:txBody>
      </p:sp>
      <p:sp>
        <p:nvSpPr>
          <p:cNvPr id="3" name="Content Placeholder 2">
            <a:extLst>
              <a:ext uri="{FF2B5EF4-FFF2-40B4-BE49-F238E27FC236}">
                <a16:creationId xmlns:a16="http://schemas.microsoft.com/office/drawing/2014/main" id="{DEBB48E5-036C-0657-C021-825FBF1B3453}"/>
              </a:ext>
            </a:extLst>
          </p:cNvPr>
          <p:cNvSpPr>
            <a:spLocks noGrp="1"/>
          </p:cNvSpPr>
          <p:nvPr>
            <p:ph idx="1"/>
          </p:nvPr>
        </p:nvSpPr>
        <p:spPr/>
        <p:txBody>
          <a:bodyPr/>
          <a:lstStyle/>
          <a:p>
            <a:r>
              <a:rPr lang="en-IN" sz="1600" dirty="0"/>
              <a:t>Sets are a handy and flexible data structure in Python that can handle collections of unique elements. Unlike lists or tuples, sets are unordered and mutable, meaning you can change their content after creating them. Sets also support operations like union, difference, and intersection, similar to mathematical sets</a:t>
            </a:r>
            <a:r>
              <a:rPr lang="en-IN" dirty="0"/>
              <a:t>.</a:t>
            </a:r>
          </a:p>
          <a:p>
            <a:endParaRPr lang="en-IN" dirty="0"/>
          </a:p>
          <a:p>
            <a:r>
              <a:rPr lang="en-IN" sz="1600" dirty="0"/>
              <a:t>To create a set, use curly braces {} and separate the elements with commas. For example, you can create a set of IP addresses like this:</a:t>
            </a:r>
          </a:p>
          <a:p>
            <a:endParaRPr lang="en-US" sz="1600" dirty="0"/>
          </a:p>
        </p:txBody>
      </p:sp>
      <p:pic>
        <p:nvPicPr>
          <p:cNvPr id="4" name="Picture 3">
            <a:extLst>
              <a:ext uri="{FF2B5EF4-FFF2-40B4-BE49-F238E27FC236}">
                <a16:creationId xmlns:a16="http://schemas.microsoft.com/office/drawing/2014/main" id="{0229115C-1599-25C9-A600-A0A0BFB5B8EA}"/>
              </a:ext>
            </a:extLst>
          </p:cNvPr>
          <p:cNvPicPr>
            <a:picLocks noChangeAspect="1"/>
          </p:cNvPicPr>
          <p:nvPr/>
        </p:nvPicPr>
        <p:blipFill>
          <a:blip r:embed="rId2"/>
          <a:stretch>
            <a:fillRect/>
          </a:stretch>
        </p:blipFill>
        <p:spPr>
          <a:xfrm>
            <a:off x="1476153" y="4251883"/>
            <a:ext cx="7772400" cy="778456"/>
          </a:xfrm>
          <a:prstGeom prst="rect">
            <a:avLst/>
          </a:prstGeom>
        </p:spPr>
      </p:pic>
    </p:spTree>
    <p:extLst>
      <p:ext uri="{BB962C8B-B14F-4D97-AF65-F5344CB8AC3E}">
        <p14:creationId xmlns:p14="http://schemas.microsoft.com/office/powerpoint/2010/main" val="455669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03DA-002E-EF1D-90F6-BA52BAF9F239}"/>
              </a:ext>
            </a:extLst>
          </p:cNvPr>
          <p:cNvSpPr>
            <a:spLocks noGrp="1"/>
          </p:cNvSpPr>
          <p:nvPr>
            <p:ph type="title"/>
          </p:nvPr>
        </p:nvSpPr>
        <p:spPr/>
        <p:txBody>
          <a:bodyPr/>
          <a:lstStyle/>
          <a:p>
            <a:r>
              <a:rPr lang="en-US" dirty="0"/>
              <a:t>Python Dictionaries for Network Engineers</a:t>
            </a:r>
          </a:p>
        </p:txBody>
      </p:sp>
      <p:sp>
        <p:nvSpPr>
          <p:cNvPr id="3" name="Content Placeholder 2">
            <a:extLst>
              <a:ext uri="{FF2B5EF4-FFF2-40B4-BE49-F238E27FC236}">
                <a16:creationId xmlns:a16="http://schemas.microsoft.com/office/drawing/2014/main" id="{561E506E-BB43-8E5F-7126-8D00B650B0FA}"/>
              </a:ext>
            </a:extLst>
          </p:cNvPr>
          <p:cNvSpPr>
            <a:spLocks noGrp="1"/>
          </p:cNvSpPr>
          <p:nvPr>
            <p:ph idx="1"/>
          </p:nvPr>
        </p:nvSpPr>
        <p:spPr/>
        <p:txBody>
          <a:bodyPr>
            <a:normAutofit/>
          </a:bodyPr>
          <a:lstStyle/>
          <a:p>
            <a:r>
              <a:rPr lang="en-IN" sz="1600" dirty="0"/>
              <a:t>Dictionaries in Python are like special containers that store data as key-value pairs. They keep the order of items and are very useful for many programming tasks. You can create dictionaries using curly braces {} and access values by their keys. From Python 3.7 onwards, dictionaries are ordered by default, making them even more powerful for writing organized code.</a:t>
            </a:r>
          </a:p>
          <a:p>
            <a:endParaRPr lang="en-IN" sz="1600" dirty="0"/>
          </a:p>
          <a:p>
            <a:r>
              <a:rPr lang="en-IN" sz="1600" dirty="0"/>
              <a:t>The easiest way to create a dictionary is by using curly braces. You define key-value pairs within these braces. Here’s an example:</a:t>
            </a:r>
          </a:p>
          <a:p>
            <a:endParaRPr lang="en-IN" sz="1600" dirty="0"/>
          </a:p>
          <a:p>
            <a:endParaRPr lang="en-US" sz="1600" dirty="0"/>
          </a:p>
        </p:txBody>
      </p:sp>
      <p:pic>
        <p:nvPicPr>
          <p:cNvPr id="4" name="Picture 3">
            <a:extLst>
              <a:ext uri="{FF2B5EF4-FFF2-40B4-BE49-F238E27FC236}">
                <a16:creationId xmlns:a16="http://schemas.microsoft.com/office/drawing/2014/main" id="{21B99AA4-FEED-ACF4-7D06-BCC91EF825FB}"/>
              </a:ext>
            </a:extLst>
          </p:cNvPr>
          <p:cNvPicPr>
            <a:picLocks noChangeAspect="1"/>
          </p:cNvPicPr>
          <p:nvPr/>
        </p:nvPicPr>
        <p:blipFill>
          <a:blip r:embed="rId2"/>
          <a:stretch>
            <a:fillRect/>
          </a:stretch>
        </p:blipFill>
        <p:spPr>
          <a:xfrm>
            <a:off x="1284768" y="4207360"/>
            <a:ext cx="7772400" cy="1526721"/>
          </a:xfrm>
          <a:prstGeom prst="rect">
            <a:avLst/>
          </a:prstGeom>
        </p:spPr>
      </p:pic>
    </p:spTree>
    <p:extLst>
      <p:ext uri="{BB962C8B-B14F-4D97-AF65-F5344CB8AC3E}">
        <p14:creationId xmlns:p14="http://schemas.microsoft.com/office/powerpoint/2010/main" val="1874741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Variables &amp; Data types</a:t>
            </a:r>
          </a:p>
          <a:p>
            <a:endParaRPr lang="en-US" dirty="0">
              <a:ea typeface="Calibri"/>
              <a:cs typeface="Calibri"/>
            </a:endParaRPr>
          </a:p>
          <a:p>
            <a:r>
              <a:rPr lang="en-US" dirty="0">
                <a:ea typeface="Calibri"/>
                <a:cs typeface="Calibri"/>
              </a:rPr>
              <a:t>Python Loops</a:t>
            </a:r>
          </a:p>
          <a:p>
            <a:pPr marL="0" indent="0">
              <a:buNone/>
            </a:pPr>
            <a:endParaRPr lang="en-US" dirty="0">
              <a:ea typeface="Calibri"/>
              <a:cs typeface="Calibri"/>
            </a:endParaRPr>
          </a:p>
          <a:p>
            <a:r>
              <a:rPr lang="en-US" dirty="0">
                <a:ea typeface="Calibri"/>
                <a:cs typeface="Calibri"/>
              </a:rPr>
              <a:t> Conditional Statements &amp; </a:t>
            </a:r>
            <a:r>
              <a:rPr lang="en-US">
                <a:ea typeface="Calibri"/>
                <a:cs typeface="Calibri"/>
              </a:rPr>
              <a:t>Python Collections</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2503</TotalTime>
  <Words>1667</Words>
  <Application>Microsoft Office PowerPoint</Application>
  <PresentationFormat>Widescreen</PresentationFormat>
  <Paragraphs>167</Paragraphs>
  <Slides>22</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-apple-system</vt:lpstr>
      <vt:lpstr>Arial</vt:lpstr>
      <vt:lpstr>Calibri</vt:lpstr>
      <vt:lpstr>Calibri Light</vt:lpstr>
      <vt:lpstr>Segoe UI</vt:lpstr>
      <vt:lpstr>Wingdings</vt:lpstr>
      <vt:lpstr>Office 2013 - 2022 Theme</vt:lpstr>
      <vt:lpstr>Python Scripting with Network</vt:lpstr>
      <vt:lpstr>Agenda</vt:lpstr>
      <vt:lpstr>Overview of Python</vt:lpstr>
      <vt:lpstr>Python Benefits</vt:lpstr>
      <vt:lpstr>OOPs with Python</vt:lpstr>
      <vt:lpstr>Python Installation</vt:lpstr>
      <vt:lpstr>Python’s venv library</vt:lpstr>
      <vt:lpstr>Python Basic Data types</vt:lpstr>
      <vt:lpstr>Python variables </vt:lpstr>
      <vt:lpstr>Python Operators</vt:lpstr>
      <vt:lpstr>Loops in Python</vt:lpstr>
      <vt:lpstr>Nesting Loops in Python</vt:lpstr>
      <vt:lpstr>While Loop in Python</vt:lpstr>
      <vt:lpstr>Difference between For &amp; While Loop</vt:lpstr>
      <vt:lpstr>Object Oriented Programming(OOPS) Concepts </vt:lpstr>
      <vt:lpstr>Conditional Statements in Python</vt:lpstr>
      <vt:lpstr>Truthy &amp; Falsy Values in Python</vt:lpstr>
      <vt:lpstr>Python Lists </vt:lpstr>
      <vt:lpstr>Tuples in Python</vt:lpstr>
      <vt:lpstr>Sets in Python</vt:lpstr>
      <vt:lpstr>Python Dictionaries for Network Engineers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8</cp:revision>
  <dcterms:created xsi:type="dcterms:W3CDTF">2026-04-11T17:33:10Z</dcterms:created>
  <dcterms:modified xsi:type="dcterms:W3CDTF">2026-07-06T05:55:49Z</dcterms:modified>
</cp:coreProperties>
</file>