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295" r:id="rId6"/>
    <p:sldId id="296" r:id="rId7"/>
    <p:sldId id="297" r:id="rId8"/>
    <p:sldId id="300" r:id="rId9"/>
    <p:sldId id="28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10</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Python Network Controllers</a:t>
            </a:r>
          </a:p>
          <a:p>
            <a:r>
              <a:rPr lang="en-US" sz="2200" dirty="0">
                <a:ea typeface="Calibri" panose="020F0502020204030204"/>
                <a:cs typeface="Calibri" panose="020F0502020204030204"/>
              </a:rPr>
              <a:t>Python Classes </a:t>
            </a:r>
          </a:p>
          <a:p>
            <a:r>
              <a:rPr lang="en-US" sz="2200" dirty="0">
                <a:ea typeface="Calibri" panose="020F0502020204030204"/>
                <a:cs typeface="Calibri" panose="020F0502020204030204"/>
              </a:rPr>
              <a:t>Python Packages </a:t>
            </a:r>
          </a:p>
          <a:p>
            <a:r>
              <a:rPr lang="en-US" sz="2200" dirty="0">
                <a:ea typeface="Calibri" panose="020F0502020204030204"/>
                <a:cs typeface="Calibri" panose="020F0502020204030204"/>
              </a:rPr>
              <a:t>Python </a:t>
            </a:r>
            <a:r>
              <a:rPr lang="en-US" sz="2200" dirty="0" err="1">
                <a:ea typeface="Calibri" panose="020F0502020204030204"/>
                <a:cs typeface="Calibri" panose="020F0502020204030204"/>
              </a:rPr>
              <a:t>Netmiko</a:t>
            </a:r>
            <a:r>
              <a:rPr lang="en-US" sz="2200" dirty="0">
                <a:ea typeface="Calibri" panose="020F0502020204030204"/>
                <a:cs typeface="Calibri" panose="020F0502020204030204"/>
              </a:rPr>
              <a:t> Library</a:t>
            </a:r>
          </a:p>
          <a:p>
            <a:r>
              <a:rPr lang="en-US" sz="2200" dirty="0">
                <a:ea typeface="Calibri" panose="020F0502020204030204"/>
                <a:cs typeface="Calibri" panose="020F0502020204030204"/>
              </a:rPr>
              <a:t>Python </a:t>
            </a:r>
            <a:r>
              <a:rPr lang="en-US" sz="2200" dirty="0" err="1">
                <a:ea typeface="Calibri" panose="020F0502020204030204"/>
                <a:cs typeface="Calibri" panose="020F0502020204030204"/>
              </a:rPr>
              <a:t>Nornir</a:t>
            </a:r>
            <a:r>
              <a:rPr lang="en-US" sz="2200" dirty="0">
                <a:ea typeface="Calibri" panose="020F0502020204030204"/>
                <a:cs typeface="Calibri" panose="020F0502020204030204"/>
              </a:rPr>
              <a:t> Library</a:t>
            </a:r>
          </a:p>
          <a:p>
            <a:endParaRPr lang="en-US" sz="2200" dirty="0">
              <a:ea typeface="Calibri" panose="020F0502020204030204"/>
              <a:cs typeface="Calibri" panose="020F0502020204030204"/>
            </a:endParaRP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Python Network Controller API</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lstStyle/>
          <a:p>
            <a:r>
              <a:rPr lang="en-US" sz="2000" dirty="0"/>
              <a:t>A Python network controller is typically a Software-Defined Networking (SDN) framework or an automation engine written in Python that centralizes the management of network switches, routers, and firewalls. </a:t>
            </a:r>
          </a:p>
          <a:p>
            <a:endParaRPr lang="en-US" sz="2000" dirty="0"/>
          </a:p>
          <a:p>
            <a:r>
              <a:rPr lang="en-US" sz="2000" dirty="0"/>
              <a:t>It separates the control plane from the data plane, allowing engineers to programmatically dictate traffic, optimize routing, and manage devices. </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Python Classes</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2000" dirty="0"/>
              <a:t>Classes are created using class keyword. Attributes are variables defined inside class and represent properties of the class. Attributes can be accessed using dot . operator (e.g., </a:t>
            </a:r>
            <a:r>
              <a:rPr lang="en-US" sz="2000" dirty="0" err="1"/>
              <a:t>MyClass.my_attribute</a:t>
            </a:r>
            <a:r>
              <a:rPr lang="en-US" sz="2000" dirty="0"/>
              <a:t>).</a:t>
            </a:r>
          </a:p>
          <a:p>
            <a:endParaRPr lang="en-US" sz="2000" dirty="0"/>
          </a:p>
          <a:p>
            <a:r>
              <a:rPr lang="en-US" sz="2000" dirty="0"/>
              <a:t>An object is a specific instance of a class. It holds its own set of data (instance variables) and can invoke methods defined by its class. Multiple objects can be created from same class, each with its own unique attributes.</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Packages</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2200" dirty="0"/>
              <a:t>If you are working with physical hardware (switches, routers) or infrastructure, these packages streamline device communication, configuration, and testing. </a:t>
            </a:r>
          </a:p>
          <a:p>
            <a:r>
              <a:rPr lang="en-US" sz="2200" dirty="0" err="1"/>
              <a:t>Netmiko</a:t>
            </a:r>
            <a:r>
              <a:rPr lang="en-US" sz="2200" dirty="0"/>
              <a:t>: A multi-vendor library built on </a:t>
            </a:r>
            <a:r>
              <a:rPr lang="en-US" sz="2200" dirty="0" err="1"/>
              <a:t>Paramiko</a:t>
            </a:r>
            <a:r>
              <a:rPr lang="en-US" sz="2200" dirty="0"/>
              <a:t> that simplifies SSH connections to network devices, allowing you to easily send CLI commands and retrieve outputs. </a:t>
            </a:r>
          </a:p>
          <a:p>
            <a:r>
              <a:rPr lang="en-US" sz="2200" dirty="0"/>
              <a:t>NAPALM: An abstraction layer that lets you interact with different networking vendors (Cisco, Juniper, Arista) using a single, uniform API. </a:t>
            </a:r>
          </a:p>
          <a:p>
            <a:r>
              <a:rPr lang="en-US" sz="2200" dirty="0" err="1"/>
              <a:t>Nornir</a:t>
            </a:r>
            <a:r>
              <a:rPr lang="en-US" sz="2200" dirty="0"/>
              <a:t>: An automation framework written specifically for network engineers that allows you to run tasks concurrently against hundreds of devices.</a:t>
            </a:r>
          </a:p>
          <a:p>
            <a:endParaRPr lang="en-US" sz="2100" dirty="0"/>
          </a:p>
        </p:txBody>
      </p:sp>
    </p:spTree>
    <p:extLst>
      <p:ext uri="{BB962C8B-B14F-4D97-AF65-F5344CB8AC3E}">
        <p14:creationId xmlns:p14="http://schemas.microsoft.com/office/powerpoint/2010/main" val="1969476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Python </a:t>
            </a:r>
            <a:r>
              <a:rPr lang="en-US" dirty="0" err="1"/>
              <a:t>NetworkX</a:t>
            </a:r>
            <a:r>
              <a:rPr lang="en-US" dirty="0"/>
              <a:t> library </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3724096"/>
          </a:xfrm>
          <a:prstGeom prst="rect">
            <a:avLst/>
          </a:prstGeom>
          <a:noFill/>
        </p:spPr>
        <p:txBody>
          <a:bodyPr wrap="square" rtlCol="0">
            <a:spAutoFit/>
          </a:bodyPr>
          <a:lstStyle/>
          <a:p>
            <a:pPr marL="285750" indent="-285750">
              <a:buFont typeface="Arial" panose="020B0604020202020204" pitchFamily="34" charset="0"/>
              <a:buChar char="•"/>
            </a:pPr>
            <a:r>
              <a:rPr lang="en-US" dirty="0" err="1"/>
              <a:t>NetworkX</a:t>
            </a:r>
            <a:r>
              <a:rPr lang="en-US" dirty="0"/>
              <a:t> is a Python package for the creation, manipulation, and study of the structure, dynamics, and functions of complex networks. It provides:</a:t>
            </a:r>
          </a:p>
          <a:p>
            <a:pPr marL="285750" indent="-285750">
              <a:buFont typeface="Arial" panose="020B0604020202020204" pitchFamily="34" charset="0"/>
              <a:buChar char="•"/>
            </a:pPr>
            <a:r>
              <a:rPr lang="en-US" dirty="0"/>
              <a:t>tools for the study of the structure and dynamics of social, biological, and infrastructure networks;</a:t>
            </a:r>
          </a:p>
          <a:p>
            <a:pPr marL="285750" indent="-285750">
              <a:buFont typeface="Arial" panose="020B0604020202020204" pitchFamily="34" charset="0"/>
              <a:buChar char="•"/>
            </a:pPr>
            <a:r>
              <a:rPr lang="en-US" dirty="0"/>
              <a:t>a standard programming interface and graph implementation that is suitable for many applications;</a:t>
            </a:r>
          </a:p>
          <a:p>
            <a:pPr marL="285750" indent="-285750">
              <a:buFont typeface="Arial" panose="020B0604020202020204" pitchFamily="34" charset="0"/>
              <a:buChar char="•"/>
            </a:pPr>
            <a:r>
              <a:rPr lang="en-US" dirty="0"/>
              <a:t>a rapid development environment for collaborative, multidisciplinary projects;</a:t>
            </a:r>
          </a:p>
          <a:p>
            <a:pPr marL="285750" indent="-285750">
              <a:buFont typeface="Arial" panose="020B0604020202020204" pitchFamily="34" charset="0"/>
              <a:buChar char="•"/>
            </a:pPr>
            <a:r>
              <a:rPr lang="en-US" dirty="0"/>
              <a:t>support for algorithm acceleration and additional features through third-party backends;</a:t>
            </a:r>
          </a:p>
          <a:p>
            <a:pPr marL="285750" indent="-285750">
              <a:buFont typeface="Arial" panose="020B0604020202020204" pitchFamily="34" charset="0"/>
              <a:buChar char="•"/>
            </a:pPr>
            <a:r>
              <a:rPr lang="en-US" dirty="0"/>
              <a:t>an interface to existing numerical algorithms and code written in C, C++, and FORTRAN; and</a:t>
            </a:r>
          </a:p>
          <a:p>
            <a:pPr marL="285750" indent="-285750">
              <a:buFont typeface="Arial" panose="020B0604020202020204" pitchFamily="34" charset="0"/>
              <a:buChar char="•"/>
            </a:pPr>
            <a:r>
              <a:rPr lang="en-US" dirty="0"/>
              <a:t>the ability to painlessly work with large nonstandard data sets.</a:t>
            </a:r>
          </a:p>
          <a:p>
            <a:pPr marL="285750" indent="-285750">
              <a:buFont typeface="Arial" panose="020B0604020202020204" pitchFamily="34" charset="0"/>
              <a:buChar char="•"/>
            </a:pPr>
            <a:r>
              <a:rPr lang="en-US" dirty="0"/>
              <a:t>With </a:t>
            </a:r>
            <a:r>
              <a:rPr lang="en-US" dirty="0" err="1"/>
              <a:t>NetworkX</a:t>
            </a:r>
            <a:r>
              <a:rPr lang="en-US" dirty="0"/>
              <a:t> you can load and store networks in standard and nonstandard data formats, generate many types of random and classic networks, analyze network structure, build network models, design new network algorithms, draw networks, and much more.</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D942-FC58-967A-6036-8D60480E0D8E}"/>
              </a:ext>
            </a:extLst>
          </p:cNvPr>
          <p:cNvSpPr>
            <a:spLocks noGrp="1"/>
          </p:cNvSpPr>
          <p:nvPr>
            <p:ph type="title"/>
          </p:nvPr>
        </p:nvSpPr>
        <p:spPr/>
        <p:txBody>
          <a:bodyPr/>
          <a:lstStyle/>
          <a:p>
            <a:r>
              <a:rPr lang="en-US" dirty="0"/>
              <a:t>Python </a:t>
            </a:r>
            <a:r>
              <a:rPr lang="en-US" dirty="0" err="1"/>
              <a:t>Netmiko</a:t>
            </a:r>
            <a:r>
              <a:rPr lang="en-US" dirty="0"/>
              <a:t> Library</a:t>
            </a:r>
          </a:p>
        </p:txBody>
      </p:sp>
      <p:sp>
        <p:nvSpPr>
          <p:cNvPr id="3" name="Content Placeholder 2">
            <a:extLst>
              <a:ext uri="{FF2B5EF4-FFF2-40B4-BE49-F238E27FC236}">
                <a16:creationId xmlns:a16="http://schemas.microsoft.com/office/drawing/2014/main" id="{BAD59433-71B5-3F71-A46A-4BCFD6B6F724}"/>
              </a:ext>
            </a:extLst>
          </p:cNvPr>
          <p:cNvSpPr>
            <a:spLocks noGrp="1"/>
          </p:cNvSpPr>
          <p:nvPr>
            <p:ph idx="1"/>
          </p:nvPr>
        </p:nvSpPr>
        <p:spPr/>
        <p:txBody>
          <a:bodyPr/>
          <a:lstStyle/>
          <a:p>
            <a:r>
              <a:rPr lang="en-US" sz="1800" dirty="0"/>
              <a:t>Successfully establish an SSH connection to the device.</a:t>
            </a:r>
          </a:p>
          <a:p>
            <a:r>
              <a:rPr lang="en-US" sz="1800" dirty="0"/>
              <a:t>Simplify the execution, retrieval, and formatting of show commands.</a:t>
            </a:r>
          </a:p>
          <a:p>
            <a:r>
              <a:rPr lang="en-US" sz="1800" dirty="0"/>
              <a:t>Simplify the execution of configuration commands.</a:t>
            </a:r>
          </a:p>
          <a:p>
            <a:r>
              <a:rPr lang="en-US" sz="1800" dirty="0"/>
              <a:t>Abstract away much of the low-level mechanics of interacting with devices.</a:t>
            </a:r>
          </a:p>
          <a:p>
            <a:r>
              <a:rPr lang="en-US" sz="1800" dirty="0"/>
              <a:t>Provide a (relatively) uniform API for interacting with devices.</a:t>
            </a:r>
          </a:p>
          <a:p>
            <a:r>
              <a:rPr lang="en-US" sz="1800" dirty="0"/>
              <a:t>Do the above across a broad set of networking vendors and platforms.</a:t>
            </a:r>
          </a:p>
          <a:p>
            <a:endParaRPr lang="en-US" dirty="0"/>
          </a:p>
        </p:txBody>
      </p:sp>
    </p:spTree>
    <p:extLst>
      <p:ext uri="{BB962C8B-B14F-4D97-AF65-F5344CB8AC3E}">
        <p14:creationId xmlns:p14="http://schemas.microsoft.com/office/powerpoint/2010/main" val="3234716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70EFB-D792-B2C1-0C11-3ABE932870A6}"/>
              </a:ext>
            </a:extLst>
          </p:cNvPr>
          <p:cNvSpPr>
            <a:spLocks noGrp="1"/>
          </p:cNvSpPr>
          <p:nvPr>
            <p:ph type="title"/>
          </p:nvPr>
        </p:nvSpPr>
        <p:spPr/>
        <p:txBody>
          <a:bodyPr/>
          <a:lstStyle/>
          <a:p>
            <a:r>
              <a:rPr lang="en-US" dirty="0"/>
              <a:t>Python </a:t>
            </a:r>
            <a:r>
              <a:rPr lang="en-US" dirty="0" err="1"/>
              <a:t>Nornir</a:t>
            </a:r>
            <a:r>
              <a:rPr lang="en-US" dirty="0"/>
              <a:t> Library</a:t>
            </a:r>
          </a:p>
        </p:txBody>
      </p:sp>
      <p:sp>
        <p:nvSpPr>
          <p:cNvPr id="3" name="Content Placeholder 2">
            <a:extLst>
              <a:ext uri="{FF2B5EF4-FFF2-40B4-BE49-F238E27FC236}">
                <a16:creationId xmlns:a16="http://schemas.microsoft.com/office/drawing/2014/main" id="{6E0421EA-9AC0-4893-E82E-8A81C9E0407A}"/>
              </a:ext>
            </a:extLst>
          </p:cNvPr>
          <p:cNvSpPr>
            <a:spLocks noGrp="1"/>
          </p:cNvSpPr>
          <p:nvPr>
            <p:ph idx="1"/>
          </p:nvPr>
        </p:nvSpPr>
        <p:spPr/>
        <p:txBody>
          <a:bodyPr/>
          <a:lstStyle/>
          <a:p>
            <a:r>
              <a:rPr lang="en-US" sz="1800" dirty="0" err="1"/>
              <a:t>Nornir</a:t>
            </a:r>
            <a:r>
              <a:rPr lang="en-US" sz="1800" dirty="0"/>
              <a:t> is an open-source, pluggable, multi-threaded automation framework written in Python and designed to be used directly with native Python code. Unlike traditional configuration management tools like Ansible, which rely on a Domain-Specific Language (DSL) or cumbersome YAML files, </a:t>
            </a:r>
            <a:r>
              <a:rPr lang="en-US" sz="1800" dirty="0" err="1"/>
              <a:t>Nornir</a:t>
            </a:r>
            <a:r>
              <a:rPr lang="en-US" sz="1800" dirty="0"/>
              <a:t> lets you orchestrate workflows using standard Python scripts.</a:t>
            </a:r>
          </a:p>
          <a:p>
            <a:endParaRPr lang="en-US" sz="1800" dirty="0"/>
          </a:p>
          <a:p>
            <a:r>
              <a:rPr lang="en-US" b="1" dirty="0"/>
              <a:t>Pure Python Execution:</a:t>
            </a:r>
            <a:r>
              <a:rPr lang="en-US" sz="1800" dirty="0"/>
              <a:t> Write all your tasks, conditionals, loops, and logic natively in Python.</a:t>
            </a:r>
          </a:p>
          <a:p>
            <a:r>
              <a:rPr lang="en-US" b="1" dirty="0"/>
              <a:t>Built-in Concurrency:</a:t>
            </a:r>
            <a:r>
              <a:rPr lang="en-US" sz="1800" dirty="0"/>
              <a:t> Features a multi-threaded task runner that operates rapidly across large device inventories.</a:t>
            </a:r>
          </a:p>
          <a:p>
            <a:r>
              <a:rPr lang="en-US" b="1" dirty="0"/>
              <a:t>Native Inventory Management:</a:t>
            </a:r>
            <a:r>
              <a:rPr lang="en-US" sz="1800" dirty="0"/>
              <a:t> Organizes and accesses host data, variables, credentials, and custom metadata.</a:t>
            </a:r>
          </a:p>
        </p:txBody>
      </p:sp>
    </p:spTree>
    <p:extLst>
      <p:ext uri="{BB962C8B-B14F-4D97-AF65-F5344CB8AC3E}">
        <p14:creationId xmlns:p14="http://schemas.microsoft.com/office/powerpoint/2010/main" val="306722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Modules</a:t>
            </a:r>
          </a:p>
          <a:p>
            <a:pPr marL="0" indent="0">
              <a:buNone/>
            </a:pPr>
            <a:endParaRPr lang="en-US" dirty="0">
              <a:ea typeface="Calibri"/>
              <a:cs typeface="Calibri"/>
            </a:endParaRPr>
          </a:p>
          <a:p>
            <a:r>
              <a:rPr lang="en-US" dirty="0">
                <a:ea typeface="Calibri"/>
                <a:cs typeface="Calibri"/>
              </a:rPr>
              <a:t> Python Lambda Functions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3355</TotalTime>
  <Words>625</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2013 - 2022 Theme</vt:lpstr>
      <vt:lpstr>Python Scripting with Network</vt:lpstr>
      <vt:lpstr>Agenda</vt:lpstr>
      <vt:lpstr>Python Network Controller API</vt:lpstr>
      <vt:lpstr>Python Classes</vt:lpstr>
      <vt:lpstr>Python Packages</vt:lpstr>
      <vt:lpstr>Python NetworkX library </vt:lpstr>
      <vt:lpstr>Python Netmiko Library</vt:lpstr>
      <vt:lpstr>Python Nornir Library</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50</cp:revision>
  <dcterms:created xsi:type="dcterms:W3CDTF">2026-04-11T17:33:10Z</dcterms:created>
  <dcterms:modified xsi:type="dcterms:W3CDTF">2026-06-03T18:22:11Z</dcterms:modified>
</cp:coreProperties>
</file>